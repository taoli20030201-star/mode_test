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F44D1-E633-F82D-C517-D74088F4C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489516-535A-FF1C-F2BE-2BD8D1FAB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F9E8B2-BA0E-D5CA-FCC8-468CFD4C6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5CAF6-ABCC-E653-3B81-C6A1D3EB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8473E4-E998-63D5-A6AB-B9A49D02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55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5DB83-0D37-57EA-33F9-496BAFC53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15F79-6A83-F334-D238-645B2F603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75125-B18E-A241-109A-FB697C39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9A6A1-1F13-1EA4-7E29-BB8A7761D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479C24-F434-6E58-2D80-EBE8578E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18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E84ED-FF72-CF36-39B9-1B6F0663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F7CFE8-401C-A5BA-54E7-637E66AE8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8A3136-57BD-D48E-4A6E-A9F9BB57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F6E0FB-E80C-1428-1150-312492938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C407A9-D9A6-8CE5-2E65-19191E50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03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01A43-AB1B-01B1-B791-C2C4E1E6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236CB-F00A-D26A-33AC-3BC9E6A8D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0B84FB-82F0-790B-0460-03E551804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022AE2-EFEA-7635-A97A-1192C8A3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44F8E3-C3E1-C426-0D6F-2F1C8ACDE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8E2CFD-4A3E-5634-C671-9BB0FDFC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94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6616-A277-EBBC-4900-CE86575A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70E5A0-3EE6-53E0-3E7D-D4C827911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5606B4-14EF-35ED-E324-62FAFAA1B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C471F-8C79-BA88-977F-CE9C53331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EA4858-673D-802B-8960-A476EF8F8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E3E3F2-FE00-5D70-2FAF-CFD985E07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4DCFA1-F5E8-ABDE-7212-CDA8C51D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5AFEF8-DC4D-61BD-A860-F44E90A4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711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D0BAA-59CF-D655-19B8-0B2DB917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B1E390-5705-E847-737E-B8CFF535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711902-35F7-5701-AF67-99C3C26E6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8F296F-CF83-3C1E-C41C-C681C6E3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09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671569-AB20-DC62-A810-EC789585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F225D6-9475-7F78-DEB0-6CD55E4C5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7F85A7-E597-A75E-7105-AF51C354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44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D1AE1-C045-F0C2-041D-8BC797DB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300D3-E194-3168-F2C3-BDF9C45CB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D6F212-D55F-C6ED-F03B-290463BA6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A549CC-AC25-DB38-85DF-7DE3F925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C91A9D-DF6B-532A-072B-C171DA99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227127-A386-173F-5460-25EB93435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62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63F0A-E0C9-1D4D-143F-6526C147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1526C2-2E67-647E-5C39-A82C0A01F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98CD69-68A4-47D4-23BD-44136B20F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5FFA1F-A723-AF74-9520-A14F684F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042BAB-10FD-F203-4A28-759869E1F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C8D0D6-5B78-C921-3B3F-73076E6F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067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87EA9-ABAF-7C3B-0601-D31EFBD4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A6F932-5AAE-F1DC-F35D-D17471478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B271E-9F88-F57C-CE32-72C60DE2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37D3C8-D0B3-F708-4D64-B4CEBD0F6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7BAD9-A68B-AC2B-B2DC-F1D530F3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4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F14093-87A1-B4BF-EAC9-281DF5B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AA5F14-C8F0-1EC0-1C5F-81C18B2B8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ACBED7-04D2-75B6-146F-4BBC5CE8D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722FD-E955-7FE9-064B-7EE2D94A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CFEE9A-CEA2-E387-23E3-0EF200FA8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647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349233-403A-C1E8-8FC0-EE08C983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4CB53-089D-9711-94AA-2904A77F6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507FA6-0805-A7B0-405F-DB0D7874B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079CB-071A-449F-AAB0-43D7BB178EB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77F81F-1D70-0232-8A66-FB8746642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B5A0A0-51C9-AD35-940E-2BF1DBA7A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972F0-3F01-4D16-8DBE-E2786E645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5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70BFA76-1AC8-181F-42A1-EA486E4928D8}"/>
              </a:ext>
            </a:extLst>
          </p:cNvPr>
          <p:cNvSpPr/>
          <p:nvPr/>
        </p:nvSpPr>
        <p:spPr>
          <a:xfrm>
            <a:off x="8763000" y="-1397000"/>
            <a:ext cx="5461000" cy="5461000"/>
          </a:xfrm>
          <a:prstGeom prst="ellipse">
            <a:avLst/>
          </a:prstGeom>
          <a:solidFill>
            <a:srgbClr val="2E6DA4">
              <a:alpha val="4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3EE660C-4E61-C516-98C3-138952E19015}"/>
              </a:ext>
            </a:extLst>
          </p:cNvPr>
          <p:cNvSpPr/>
          <p:nvPr/>
        </p:nvSpPr>
        <p:spPr>
          <a:xfrm>
            <a:off x="9906000" y="4191000"/>
            <a:ext cx="3175000" cy="3175000"/>
          </a:xfrm>
          <a:prstGeom prst="ellipse">
            <a:avLst/>
          </a:prstGeom>
          <a:solidFill>
            <a:srgbClr val="2E6DA4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2769A4-C931-8E3C-DBAB-2854CBE9E611}"/>
              </a:ext>
            </a:extLst>
          </p:cNvPr>
          <p:cNvSpPr txBox="1"/>
          <p:nvPr/>
        </p:nvSpPr>
        <p:spPr>
          <a:xfrm>
            <a:off x="889000" y="7874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100" b="1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 </a:t>
            </a:r>
            <a:r>
              <a:rPr lang="en-US" altLang="zh-CN" sz="1100" b="1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 b="1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BB9772-A579-5E03-3629-200D0517A2D6}"/>
              </a:ext>
            </a:extLst>
          </p:cNvPr>
          <p:cNvSpPr/>
          <p:nvPr/>
        </p:nvSpPr>
        <p:spPr>
          <a:xfrm>
            <a:off x="889000" y="1625600"/>
            <a:ext cx="101600" cy="19050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59CD49-69CE-8B55-3ADB-111B5F5880C0}"/>
              </a:ext>
            </a:extLst>
          </p:cNvPr>
          <p:cNvSpPr txBox="1"/>
          <p:nvPr/>
        </p:nvSpPr>
        <p:spPr>
          <a:xfrm>
            <a:off x="1219200" y="1524000"/>
            <a:ext cx="9144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4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4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4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77121F-A993-1036-BBCF-F21AD860F9F3}"/>
              </a:ext>
            </a:extLst>
          </p:cNvPr>
          <p:cNvSpPr txBox="1"/>
          <p:nvPr/>
        </p:nvSpPr>
        <p:spPr>
          <a:xfrm>
            <a:off x="1219200" y="2514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Financial Audit Transactions </a:t>
            </a:r>
            <a:r>
              <a:rPr lang="zh-CN" altLang="en-US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异常识别实践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658CA7-7303-1FF1-5D9F-051B2D5551DF}"/>
              </a:ext>
            </a:extLst>
          </p:cNvPr>
          <p:cNvSpPr txBox="1"/>
          <p:nvPr/>
        </p:nvSpPr>
        <p:spPr>
          <a:xfrm>
            <a:off x="1219200" y="3149600"/>
            <a:ext cx="10160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F5CBA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问题：</a:t>
            </a:r>
            <a:r>
              <a:rPr lang="en-US" altLang="zh-CN" sz="1050" b="1">
                <a:solidFill>
                  <a:srgbClr val="F5CBA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7,000 </a:t>
            </a:r>
            <a:r>
              <a:rPr lang="zh-CN" altLang="en-US" sz="1050" b="1">
                <a:solidFill>
                  <a:srgbClr val="F5CBA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笔交易人工逐笔看不完；规则只看单字段；异常样本少且标签不可靠。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566E3E-F89E-6338-9812-B0DAE788B54C}"/>
              </a:ext>
            </a:extLst>
          </p:cNvPr>
          <p:cNvSpPr txBox="1"/>
          <p:nvPr/>
        </p:nvSpPr>
        <p:spPr>
          <a:xfrm>
            <a:off x="1219200" y="35814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目标：用 </a:t>
            </a:r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2% </a:t>
            </a:r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审计容量，从 </a:t>
            </a:r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7,000 </a:t>
            </a:r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笔交易中筛出 </a:t>
            </a:r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140 </a:t>
            </a:r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条最值得核查的样本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DA92BA-3B46-3DD2-2904-89FA7A491601}"/>
              </a:ext>
            </a:extLst>
          </p:cNvPr>
          <p:cNvSpPr txBox="1"/>
          <p:nvPr/>
        </p:nvSpPr>
        <p:spPr>
          <a:xfrm>
            <a:off x="1219200" y="4013200"/>
            <a:ext cx="10160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>
                <a:solidFill>
                  <a:srgbClr val="D6EA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方法：</a:t>
            </a:r>
            <a:r>
              <a:rPr lang="en-US" altLang="zh-CN" sz="1050">
                <a:solidFill>
                  <a:srgbClr val="D6EA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Benford </a:t>
            </a:r>
            <a:r>
              <a:rPr lang="zh-CN" altLang="en-US" sz="1050">
                <a:solidFill>
                  <a:srgbClr val="D6EA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首位数 </a:t>
            </a:r>
            <a:r>
              <a:rPr lang="en-US" altLang="zh-CN" sz="1050">
                <a:solidFill>
                  <a:srgbClr val="D6EA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Isolation Forest + Top-K + 2×2 + </a:t>
            </a:r>
            <a:r>
              <a:rPr lang="zh-CN" altLang="en-US" sz="1050">
                <a:solidFill>
                  <a:srgbClr val="D6EA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人工归因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04454F-613A-0220-47E4-20FD81797368}"/>
              </a:ext>
            </a:extLst>
          </p:cNvPr>
          <p:cNvSpPr txBox="1"/>
          <p:nvPr/>
        </p:nvSpPr>
        <p:spPr>
          <a:xfrm>
            <a:off x="1219200" y="5461000"/>
            <a:ext cx="6350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1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期中实践汇报  </a:t>
            </a:r>
            <a:r>
              <a:rPr lang="en-US" altLang="zh-CN" sz="11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2026 </a:t>
            </a:r>
            <a:r>
              <a:rPr lang="zh-CN" altLang="en-US" sz="11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1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1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42889E-559C-7B71-EA3C-D43F245762A4}"/>
              </a:ext>
            </a:extLst>
          </p:cNvPr>
          <p:cNvSpPr txBox="1"/>
          <p:nvPr/>
        </p:nvSpPr>
        <p:spPr>
          <a:xfrm>
            <a:off x="8128000" y="5461000"/>
            <a:ext cx="3175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zh-CN" altLang="en-US" sz="10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全流程 </a:t>
            </a:r>
            <a:r>
              <a:rPr lang="en-US" altLang="zh-CN" sz="10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  ·  </a:t>
            </a:r>
            <a:r>
              <a:rPr lang="zh-CN" altLang="en-US" sz="10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免费工具  </a:t>
            </a:r>
            <a:r>
              <a:rPr lang="en-US" altLang="zh-CN" sz="10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</a:t>
            </a:r>
            <a:r>
              <a:rPr lang="zh-CN" altLang="en-US" sz="10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0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000">
                <a:solidFill>
                  <a:srgbClr val="AED6F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</p:spTree>
    <p:extLst>
      <p:ext uri="{BB962C8B-B14F-4D97-AF65-F5344CB8AC3E}">
        <p14:creationId xmlns:p14="http://schemas.microsoft.com/office/powerpoint/2010/main" val="733976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E93467-408A-01DB-86F8-9580EE7C1A31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B41985-13FA-583D-0D3D-B6C6E47E3858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学了什么：一条可复现的审计数据流水线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A2F596-1432-7CB9-4963-A76C474223F7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针对上面的问题，我把解决过程拆成四步；从原始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到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140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条名单，每步都有留痕。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11B0F45-D968-5A4C-AE0B-478C228A93DB}"/>
              </a:ext>
            </a:extLst>
          </p:cNvPr>
          <p:cNvSpPr/>
          <p:nvPr/>
        </p:nvSpPr>
        <p:spPr>
          <a:xfrm>
            <a:off x="508000" y="1803400"/>
            <a:ext cx="2603500" cy="2819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BF8B56-CD35-FCE5-190B-0291EB0F36AE}"/>
              </a:ext>
            </a:extLst>
          </p:cNvPr>
          <p:cNvSpPr/>
          <p:nvPr/>
        </p:nvSpPr>
        <p:spPr>
          <a:xfrm>
            <a:off x="508000" y="1803400"/>
            <a:ext cx="2603500" cy="889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67DABF1-607A-86DD-D4A3-BE785AF62C13}"/>
              </a:ext>
            </a:extLst>
          </p:cNvPr>
          <p:cNvSpPr txBox="1"/>
          <p:nvPr/>
        </p:nvSpPr>
        <p:spPr>
          <a:xfrm>
            <a:off x="711200" y="20574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>
                <a:solidFill>
                  <a:srgbClr val="2E86C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获取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0210CB-194B-C05A-A516-A170C69A8F34}"/>
              </a:ext>
            </a:extLst>
          </p:cNvPr>
          <p:cNvSpPr txBox="1"/>
          <p:nvPr/>
        </p:nvSpPr>
        <p:spPr>
          <a:xfrm>
            <a:off x="711200" y="2590800"/>
            <a:ext cx="2222500" cy="8077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7,000 × 59
0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缺失
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955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条异常（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13.64%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
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组字段（含标签）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91F1B4-A8A6-DC83-BB39-808E61BCEA41}"/>
              </a:ext>
            </a:extLst>
          </p:cNvPr>
          <p:cNvSpPr/>
          <p:nvPr/>
        </p:nvSpPr>
        <p:spPr>
          <a:xfrm>
            <a:off x="711200" y="3886200"/>
            <a:ext cx="21971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06A311-D161-E032-1C05-19D2FB0A687B}"/>
              </a:ext>
            </a:extLst>
          </p:cNvPr>
          <p:cNvSpPr txBox="1"/>
          <p:nvPr/>
        </p:nvSpPr>
        <p:spPr>
          <a:xfrm>
            <a:off x="711200" y="4013200"/>
            <a:ext cx="22225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audit_raw.csv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2D08B3-8FE5-2DEF-58F1-A9FDF60FB761}"/>
              </a:ext>
            </a:extLst>
          </p:cNvPr>
          <p:cNvSpPr/>
          <p:nvPr/>
        </p:nvSpPr>
        <p:spPr>
          <a:xfrm>
            <a:off x="3429000" y="1803400"/>
            <a:ext cx="2603500" cy="2819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FFBE45-443D-817D-08C3-973EEA513717}"/>
              </a:ext>
            </a:extLst>
          </p:cNvPr>
          <p:cNvSpPr/>
          <p:nvPr/>
        </p:nvSpPr>
        <p:spPr>
          <a:xfrm>
            <a:off x="3429000" y="1803400"/>
            <a:ext cx="2603500" cy="889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766B6A-1D2E-C5D1-85CD-E149304435B3}"/>
              </a:ext>
            </a:extLst>
          </p:cNvPr>
          <p:cNvSpPr txBox="1"/>
          <p:nvPr/>
        </p:nvSpPr>
        <p:spPr>
          <a:xfrm>
            <a:off x="3632200" y="20574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清洗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305C55-914B-BCA9-5B61-EDAB99295038}"/>
              </a:ext>
            </a:extLst>
          </p:cNvPr>
          <p:cNvSpPr txBox="1"/>
          <p:nvPr/>
        </p:nvSpPr>
        <p:spPr>
          <a:xfrm>
            <a:off x="3632200" y="2590800"/>
            <a:ext cx="2222500" cy="8077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59 → 115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
剔除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
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79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One-Hot
4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个金额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log1p+z</a:t>
            </a:r>
            <a:endParaRPr lang="zh-CN" altLang="en-US" sz="105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4A80DB-AD64-059A-3CA2-C9EF63990CC0}"/>
              </a:ext>
            </a:extLst>
          </p:cNvPr>
          <p:cNvSpPr/>
          <p:nvPr/>
        </p:nvSpPr>
        <p:spPr>
          <a:xfrm>
            <a:off x="3632200" y="3886200"/>
            <a:ext cx="21971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D578C6-16B7-281E-4319-69B60BAEC917}"/>
              </a:ext>
            </a:extLst>
          </p:cNvPr>
          <p:cNvSpPr txBox="1"/>
          <p:nvPr/>
        </p:nvSpPr>
        <p:spPr>
          <a:xfrm>
            <a:off x="3632200" y="4013200"/>
            <a:ext cx="22225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audit_clean.csv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1C4C661-93AB-F106-7522-BB7C0E9C02B0}"/>
              </a:ext>
            </a:extLst>
          </p:cNvPr>
          <p:cNvSpPr/>
          <p:nvPr/>
        </p:nvSpPr>
        <p:spPr>
          <a:xfrm>
            <a:off x="6350000" y="1803400"/>
            <a:ext cx="2603500" cy="2819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47833D8-F4C5-8F89-945B-C28C3BE97340}"/>
              </a:ext>
            </a:extLst>
          </p:cNvPr>
          <p:cNvSpPr/>
          <p:nvPr/>
        </p:nvSpPr>
        <p:spPr>
          <a:xfrm>
            <a:off x="6350000" y="1803400"/>
            <a:ext cx="2603500" cy="889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F4A926-1B04-630C-9F37-988C40524997}"/>
              </a:ext>
            </a:extLst>
          </p:cNvPr>
          <p:cNvSpPr txBox="1"/>
          <p:nvPr/>
        </p:nvSpPr>
        <p:spPr>
          <a:xfrm>
            <a:off x="6553200" y="20574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分析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6D4F45-F083-89BC-BAA4-A0384740E95B}"/>
              </a:ext>
            </a:extLst>
          </p:cNvPr>
          <p:cNvSpPr txBox="1"/>
          <p:nvPr/>
        </p:nvSpPr>
        <p:spPr>
          <a:xfrm>
            <a:off x="6553200" y="2590800"/>
            <a:ext cx="2222500" cy="8077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Benford MAD 0.00405
IF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标记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140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
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Top-140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精确率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92.1%
2×2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模型互补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E082E3-DFB5-B209-C4D5-49331B1EA867}"/>
              </a:ext>
            </a:extLst>
          </p:cNvPr>
          <p:cNvSpPr/>
          <p:nvPr/>
        </p:nvSpPr>
        <p:spPr>
          <a:xfrm>
            <a:off x="6553200" y="3886200"/>
            <a:ext cx="21971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54B958-F6B9-0971-01AF-6FFF68F3E38C}"/>
              </a:ext>
            </a:extLst>
          </p:cNvPr>
          <p:cNvSpPr txBox="1"/>
          <p:nvPr/>
        </p:nvSpPr>
        <p:spPr>
          <a:xfrm>
            <a:off x="6553200" y="4013200"/>
            <a:ext cx="22225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scores / top140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A92A9C9-EB6A-C096-454B-DDC0E75B4C2C}"/>
              </a:ext>
            </a:extLst>
          </p:cNvPr>
          <p:cNvSpPr/>
          <p:nvPr/>
        </p:nvSpPr>
        <p:spPr>
          <a:xfrm>
            <a:off x="9271000" y="1803400"/>
            <a:ext cx="2603500" cy="2819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907DF6D-D925-286F-DA2D-7B359E0008FE}"/>
              </a:ext>
            </a:extLst>
          </p:cNvPr>
          <p:cNvSpPr/>
          <p:nvPr/>
        </p:nvSpPr>
        <p:spPr>
          <a:xfrm>
            <a:off x="9271000" y="1803400"/>
            <a:ext cx="2603500" cy="889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18A332-3F44-D152-4016-3039A774974C}"/>
              </a:ext>
            </a:extLst>
          </p:cNvPr>
          <p:cNvSpPr txBox="1"/>
          <p:nvPr/>
        </p:nvSpPr>
        <p:spPr>
          <a:xfrm>
            <a:off x="9474200" y="20574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④ 汇报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7E6255-BB3B-EEB2-BE73-4C334C484706}"/>
              </a:ext>
            </a:extLst>
          </p:cNvPr>
          <p:cNvSpPr txBox="1"/>
          <p:nvPr/>
        </p:nvSpPr>
        <p:spPr>
          <a:xfrm>
            <a:off x="9474200" y="2590800"/>
            <a:ext cx="2222500" cy="8077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张统一风格图
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+3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页附录）
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条人工归因案例
答辩问答备忘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8156B0-8120-9DDA-F753-26953D16B317}"/>
              </a:ext>
            </a:extLst>
          </p:cNvPr>
          <p:cNvSpPr/>
          <p:nvPr/>
        </p:nvSpPr>
        <p:spPr>
          <a:xfrm>
            <a:off x="9474200" y="3886200"/>
            <a:ext cx="21971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2A25CA6-5289-5C88-EBFD-51F55979B5FF}"/>
              </a:ext>
            </a:extLst>
          </p:cNvPr>
          <p:cNvSpPr txBox="1"/>
          <p:nvPr/>
        </p:nvSpPr>
        <p:spPr>
          <a:xfrm>
            <a:off x="9474200" y="4013200"/>
            <a:ext cx="22225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figures /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302500D2-246A-CC45-EBF7-1057F885722F}"/>
              </a:ext>
            </a:extLst>
          </p:cNvPr>
          <p:cNvSpPr/>
          <p:nvPr/>
        </p:nvSpPr>
        <p:spPr>
          <a:xfrm>
            <a:off x="3149600" y="3098800"/>
            <a:ext cx="228600" cy="330200"/>
          </a:xfrm>
          <a:prstGeom prst="rightArrow">
            <a:avLst/>
          </a:prstGeom>
          <a:solidFill>
            <a:srgbClr val="BFC9C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853703CD-F100-C95C-8C7C-81DA3FE268D4}"/>
              </a:ext>
            </a:extLst>
          </p:cNvPr>
          <p:cNvSpPr/>
          <p:nvPr/>
        </p:nvSpPr>
        <p:spPr>
          <a:xfrm>
            <a:off x="6070600" y="3098800"/>
            <a:ext cx="228600" cy="330200"/>
          </a:xfrm>
          <a:prstGeom prst="rightArrow">
            <a:avLst/>
          </a:prstGeom>
          <a:solidFill>
            <a:srgbClr val="BFC9C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9B4AEFAB-F3F2-020D-32E2-FA77BEC777B8}"/>
              </a:ext>
            </a:extLst>
          </p:cNvPr>
          <p:cNvSpPr/>
          <p:nvPr/>
        </p:nvSpPr>
        <p:spPr>
          <a:xfrm>
            <a:off x="8991600" y="3098800"/>
            <a:ext cx="228600" cy="330200"/>
          </a:xfrm>
          <a:prstGeom prst="rightArrow">
            <a:avLst/>
          </a:prstGeom>
          <a:solidFill>
            <a:srgbClr val="BFC9C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D01C3CC-B6CA-6499-E422-BE3795C7BFEC}"/>
              </a:ext>
            </a:extLst>
          </p:cNvPr>
          <p:cNvSpPr/>
          <p:nvPr/>
        </p:nvSpPr>
        <p:spPr>
          <a:xfrm>
            <a:off x="508000" y="4978400"/>
            <a:ext cx="11176000" cy="736600"/>
          </a:xfrm>
          <a:prstGeom prst="roundRect">
            <a:avLst/>
          </a:prstGeom>
          <a:solidFill>
            <a:srgbClr val="F4F6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CC6ECA6-22C6-9119-8BCD-13C8B84EAC35}"/>
              </a:ext>
            </a:extLst>
          </p:cNvPr>
          <p:cNvSpPr txBox="1"/>
          <p:nvPr/>
        </p:nvSpPr>
        <p:spPr>
          <a:xfrm>
            <a:off x="762000" y="51308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全程 </a:t>
            </a:r>
            <a:r>
              <a:rPr lang="en-US" altLang="zh-CN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、免费工具、约 </a:t>
            </a:r>
            <a:r>
              <a:rPr lang="en-US" altLang="zh-CN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天完成；不需要 </a:t>
            </a:r>
            <a:r>
              <a:rPr lang="en-US" altLang="zh-CN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r>
              <a:rPr lang="zh-CN" altLang="en-US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、深度学习框架、数据库或 </a:t>
            </a:r>
            <a:r>
              <a:rPr lang="en-US" altLang="zh-CN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SHAP</a:t>
            </a:r>
            <a:r>
              <a:rPr lang="zh-CN" altLang="en-US" sz="12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94BFDCD-48AB-C0FC-6E9D-13E0F71B393F}"/>
              </a:ext>
            </a:extLst>
          </p:cNvPr>
          <p:cNvSpPr txBox="1"/>
          <p:nvPr/>
        </p:nvSpPr>
        <p:spPr>
          <a:xfrm>
            <a:off x="762000" y="5410200"/>
            <a:ext cx="1066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每个关键中间结果都保存为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CSV /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日志，方便复查和答辩。</a:t>
            </a:r>
          </a:p>
        </p:txBody>
      </p:sp>
    </p:spTree>
    <p:extLst>
      <p:ext uri="{BB962C8B-B14F-4D97-AF65-F5344CB8AC3E}">
        <p14:creationId xmlns:p14="http://schemas.microsoft.com/office/powerpoint/2010/main" val="3564480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A44D10-70FC-9059-9D38-9DDFCD462D66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9EF308-F2FC-0B59-0368-E0198574B43F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为何选审计：三个条件刚好都满足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E3BC6E-4A88-2757-4552-8E586D50E52C}"/>
              </a:ext>
            </a:extLst>
          </p:cNvPr>
          <p:cNvSpPr txBox="1"/>
          <p:nvPr/>
        </p:nvSpPr>
        <p:spPr>
          <a:xfrm>
            <a:off x="711200" y="863600"/>
            <a:ext cx="109220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审计现场：人力有限、异常稀少、规则只看单字段 → 需要无监督 </a:t>
            </a:r>
            <a:r>
              <a:rPr lang="en-US" altLang="zh-CN" sz="12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2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可解释的 </a:t>
            </a:r>
            <a:r>
              <a:rPr lang="en-US" altLang="zh-CN" sz="12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12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筛查。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DD4E8C-21C7-F9CC-BACE-A59E02EB54B1}"/>
              </a:ext>
            </a:extLst>
          </p:cNvPr>
          <p:cNvSpPr txBox="1"/>
          <p:nvPr/>
        </p:nvSpPr>
        <p:spPr>
          <a:xfrm>
            <a:off x="711200" y="1168400"/>
            <a:ext cx="1092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不是“为了用机器学习而用”，而是这个场景同时具备可验证、可解释、可落地的条件。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9DE1162-7E35-2DF0-5714-553327B698A3}"/>
              </a:ext>
            </a:extLst>
          </p:cNvPr>
          <p:cNvSpPr/>
          <p:nvPr/>
        </p:nvSpPr>
        <p:spPr>
          <a:xfrm>
            <a:off x="508000" y="1676400"/>
            <a:ext cx="3556000" cy="3327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08908C-1DE7-B5AD-0AAB-6DCA84A7FCA9}"/>
              </a:ext>
            </a:extLst>
          </p:cNvPr>
          <p:cNvSpPr/>
          <p:nvPr/>
        </p:nvSpPr>
        <p:spPr>
          <a:xfrm>
            <a:off x="508000" y="1676400"/>
            <a:ext cx="3556000" cy="889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DF867F-8CA3-C1D6-31A6-BF5EABFA2AA5}"/>
              </a:ext>
            </a:extLst>
          </p:cNvPr>
          <p:cNvSpPr txBox="1"/>
          <p:nvPr/>
        </p:nvSpPr>
        <p:spPr>
          <a:xfrm>
            <a:off x="736600" y="1905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400" b="1">
                <a:solidFill>
                  <a:srgbClr val="2E86C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400" b="1">
              <a:solidFill>
                <a:srgbClr val="2E86C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6EEA41-F49D-6F3B-F497-39976CB470D0}"/>
              </a:ext>
            </a:extLst>
          </p:cNvPr>
          <p:cNvSpPr txBox="1"/>
          <p:nvPr/>
        </p:nvSpPr>
        <p:spPr>
          <a:xfrm>
            <a:off x="736600" y="2438400"/>
            <a:ext cx="3098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有答案可验证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B3E6B0-F3DE-8CB4-6A2D-96B80B64631C}"/>
              </a:ext>
            </a:extLst>
          </p:cNvPr>
          <p:cNvSpPr txBox="1"/>
          <p:nvPr/>
        </p:nvSpPr>
        <p:spPr>
          <a:xfrm>
            <a:off x="736600" y="3022600"/>
            <a:ext cx="3098800" cy="60093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955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条异常标签，占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13.64%</a:t>
            </a:r>
          </a:p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8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类异常，可做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评估</a:t>
            </a:r>
          </a:p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不只看准确率，看命中率与召回率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6E6C31-00F2-43E3-8617-B9A9FBF778F4}"/>
              </a:ext>
            </a:extLst>
          </p:cNvPr>
          <p:cNvSpPr/>
          <p:nvPr/>
        </p:nvSpPr>
        <p:spPr>
          <a:xfrm>
            <a:off x="736600" y="4140200"/>
            <a:ext cx="30988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7C17C8B-2124-2C21-6BB2-F175C155ABB1}"/>
              </a:ext>
            </a:extLst>
          </p:cNvPr>
          <p:cNvSpPr txBox="1"/>
          <p:nvPr/>
        </p:nvSpPr>
        <p:spPr>
          <a:xfrm>
            <a:off x="736600" y="4267200"/>
            <a:ext cx="3098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验证：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精确率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召回率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F91104-334B-49AB-4514-382EF5372658}"/>
              </a:ext>
            </a:extLst>
          </p:cNvPr>
          <p:cNvSpPr/>
          <p:nvPr/>
        </p:nvSpPr>
        <p:spPr>
          <a:xfrm>
            <a:off x="4318000" y="1676400"/>
            <a:ext cx="3556000" cy="3327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BB8105-BF41-C592-042C-C06ABCAB47A1}"/>
              </a:ext>
            </a:extLst>
          </p:cNvPr>
          <p:cNvSpPr/>
          <p:nvPr/>
        </p:nvSpPr>
        <p:spPr>
          <a:xfrm>
            <a:off x="4318000" y="1676400"/>
            <a:ext cx="3556000" cy="889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CCF963-0F53-B526-B8D1-E7F4F6827FE6}"/>
              </a:ext>
            </a:extLst>
          </p:cNvPr>
          <p:cNvSpPr txBox="1"/>
          <p:nvPr/>
        </p:nvSpPr>
        <p:spPr>
          <a:xfrm>
            <a:off x="4546600" y="1905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4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40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844C6D-FD02-0CDA-CAE0-B76FAE4CD081}"/>
              </a:ext>
            </a:extLst>
          </p:cNvPr>
          <p:cNvSpPr txBox="1"/>
          <p:nvPr/>
        </p:nvSpPr>
        <p:spPr>
          <a:xfrm>
            <a:off x="4546600" y="2438400"/>
            <a:ext cx="3098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有业务可解释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38CBE6-7B93-49FC-CAB6-174DBBD21F93}"/>
              </a:ext>
            </a:extLst>
          </p:cNvPr>
          <p:cNvSpPr txBox="1"/>
          <p:nvPr/>
        </p:nvSpPr>
        <p:spPr>
          <a:xfrm>
            <a:off x="4546600" y="3022600"/>
            <a:ext cx="3098800" cy="60093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金额、审批、发票、供应商、关系网络</a:t>
            </a:r>
          </a:p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59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个字段能落到具体审计动作</a:t>
            </a:r>
          </a:p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异常不只是一个分数，而是一条线索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3E7D7C-8039-532D-14A4-16D62D3DA203}"/>
              </a:ext>
            </a:extLst>
          </p:cNvPr>
          <p:cNvSpPr/>
          <p:nvPr/>
        </p:nvSpPr>
        <p:spPr>
          <a:xfrm>
            <a:off x="4546600" y="4140200"/>
            <a:ext cx="30988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EAA9AA4-CFFE-BC57-3826-ABDEE03C0E52}"/>
              </a:ext>
            </a:extLst>
          </p:cNvPr>
          <p:cNvSpPr txBox="1"/>
          <p:nvPr/>
        </p:nvSpPr>
        <p:spPr>
          <a:xfrm>
            <a:off x="4546600" y="4267200"/>
            <a:ext cx="3098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解释：金额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发票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供应商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2677346-809A-7492-E887-49F0681CD951}"/>
              </a:ext>
            </a:extLst>
          </p:cNvPr>
          <p:cNvSpPr/>
          <p:nvPr/>
        </p:nvSpPr>
        <p:spPr>
          <a:xfrm>
            <a:off x="8128000" y="1676400"/>
            <a:ext cx="3556000" cy="3327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6DE946-9916-0E68-D1AE-479317B61633}"/>
              </a:ext>
            </a:extLst>
          </p:cNvPr>
          <p:cNvSpPr/>
          <p:nvPr/>
        </p:nvSpPr>
        <p:spPr>
          <a:xfrm>
            <a:off x="8128000" y="1676400"/>
            <a:ext cx="3556000" cy="889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609355-31A7-7D7E-59C6-29185E6303E5}"/>
              </a:ext>
            </a:extLst>
          </p:cNvPr>
          <p:cNvSpPr txBox="1"/>
          <p:nvPr/>
        </p:nvSpPr>
        <p:spPr>
          <a:xfrm>
            <a:off x="8356600" y="1905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40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2400" b="1">
              <a:solidFill>
                <a:srgbClr val="27AE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DBA3E3-F846-5742-112A-27863AF38442}"/>
              </a:ext>
            </a:extLst>
          </p:cNvPr>
          <p:cNvSpPr txBox="1"/>
          <p:nvPr/>
        </p:nvSpPr>
        <p:spPr>
          <a:xfrm>
            <a:off x="8356600" y="2438400"/>
            <a:ext cx="30988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有规模可落地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3F30740-34FD-249C-5D8C-9935EC9E2108}"/>
              </a:ext>
            </a:extLst>
          </p:cNvPr>
          <p:cNvSpPr txBox="1"/>
          <p:nvPr/>
        </p:nvSpPr>
        <p:spPr>
          <a:xfrm>
            <a:off x="8356600" y="3022600"/>
            <a:ext cx="3098800" cy="60093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7,000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59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列，约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3.7 MB</a:t>
            </a:r>
          </a:p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Isolation Forest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训练秒级</a:t>
            </a:r>
          </a:p>
          <a:p>
            <a:pPr>
              <a:lnSpc>
                <a:spcPct val="128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天可完成，不依赖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GPU</a:t>
            </a:r>
            <a:endParaRPr lang="zh-CN" altLang="en-US" sz="105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70FD2DB-5407-3E40-FD9B-46EEEF5B24FD}"/>
              </a:ext>
            </a:extLst>
          </p:cNvPr>
          <p:cNvSpPr/>
          <p:nvPr/>
        </p:nvSpPr>
        <p:spPr>
          <a:xfrm>
            <a:off x="8356600" y="4140200"/>
            <a:ext cx="30988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3CFAA0-3049-EEAD-D3EC-F4D1050525EF}"/>
              </a:ext>
            </a:extLst>
          </p:cNvPr>
          <p:cNvSpPr txBox="1"/>
          <p:nvPr/>
        </p:nvSpPr>
        <p:spPr>
          <a:xfrm>
            <a:off x="8356600" y="4267200"/>
            <a:ext cx="3098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落地：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名单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人工核查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470A7BB-D914-34A3-DE35-7F50196C9331}"/>
              </a:ext>
            </a:extLst>
          </p:cNvPr>
          <p:cNvSpPr/>
          <p:nvPr/>
        </p:nvSpPr>
        <p:spPr>
          <a:xfrm>
            <a:off x="508000" y="5308600"/>
            <a:ext cx="11176000" cy="787400"/>
          </a:xfrm>
          <a:prstGeom prst="roundRect">
            <a:avLst/>
          </a:prstGeom>
          <a:solidFill>
            <a:srgbClr val="EB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5FBDABE-8CF2-E911-B243-59B76668EBCC}"/>
              </a:ext>
            </a:extLst>
          </p:cNvPr>
          <p:cNvSpPr txBox="1"/>
          <p:nvPr/>
        </p:nvSpPr>
        <p:spPr>
          <a:xfrm>
            <a:off x="787400" y="5461000"/>
            <a:ext cx="10541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50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审计不是追求 </a:t>
            </a:r>
            <a:r>
              <a:rPr lang="en-US" altLang="zh-CN" sz="150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 </a:t>
            </a:r>
            <a:r>
              <a:rPr lang="zh-CN" altLang="en-US" sz="150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准确，而是用有限人力优先核查高风险样本。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E75F946-647B-495D-6B0D-ACD752A96AB7}"/>
              </a:ext>
            </a:extLst>
          </p:cNvPr>
          <p:cNvSpPr txBox="1"/>
          <p:nvPr/>
        </p:nvSpPr>
        <p:spPr>
          <a:xfrm>
            <a:off x="787400" y="5765800"/>
            <a:ext cx="1054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这正是 </a:t>
            </a:r>
            <a:r>
              <a:rPr lang="en-US" altLang="zh-CN" sz="10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10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召回要解决的问题：先保证名单质量，再决定查多少。</a:t>
            </a:r>
          </a:p>
        </p:txBody>
      </p:sp>
    </p:spTree>
    <p:extLst>
      <p:ext uri="{BB962C8B-B14F-4D97-AF65-F5344CB8AC3E}">
        <p14:creationId xmlns:p14="http://schemas.microsoft.com/office/powerpoint/2010/main" val="945038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A0E10F-631B-2561-08F5-AD618431FA81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A4DD96-A345-C8D9-3AF2-7D16EF4BC4CB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获取数据：先看清家底，再决定怎么洗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8712E1-E11F-72A0-3F2C-DC7A29BF676B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探查后修正：数据零缺失，无需填充；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Abnormal_Type / Risk_Class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是标签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标签派生列，建模剔除。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36EE9AF-F163-EBC8-8314-97D2AAD60DF6}"/>
              </a:ext>
            </a:extLst>
          </p:cNvPr>
          <p:cNvSpPr/>
          <p:nvPr/>
        </p:nvSpPr>
        <p:spPr>
          <a:xfrm>
            <a:off x="609600" y="1358900"/>
            <a:ext cx="10972800" cy="406400"/>
          </a:xfrm>
          <a:prstGeom prst="roundRect">
            <a:avLst/>
          </a:prstGeom>
          <a:solidFill>
            <a:srgbClr val="F4F6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0FA037-A279-7F66-FCB6-DC27BFDCA19A}"/>
              </a:ext>
            </a:extLst>
          </p:cNvPr>
          <p:cNvSpPr txBox="1"/>
          <p:nvPr/>
        </p:nvSpPr>
        <p:spPr>
          <a:xfrm>
            <a:off x="787400" y="1464719"/>
            <a:ext cx="10617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7,000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 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59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 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955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条异常（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13.64%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0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缺失 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11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组字段（含标签）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4A00F7-1B43-1558-A35B-FD7F0E79DF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905000"/>
            <a:ext cx="9753600" cy="4572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BFDF4A6-6095-FB4A-DA49-5B5F5C4BCF3E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F87680-E740-1D59-0664-62FBC8D48976}"/>
              </a:ext>
            </a:extLst>
          </p:cNvPr>
          <p:cNvSpPr txBox="1"/>
          <p:nvPr/>
        </p:nvSpPr>
        <p:spPr>
          <a:xfrm>
            <a:off x="508000" y="66421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A82549-66C8-ADA7-3B07-690C66F230D7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/ 10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541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732DE0-9B1E-E3E3-79C6-3E4389D7365D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B35AE4-372B-631D-052E-293DB0887D39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清洗（一）：不删一行，把 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59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列整理成 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115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5DFDF1-2FB0-AEC4-5DB7-6E0004EFAB34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常量列、泄漏列、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ID/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名称列剔除；低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中基数类别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One-Hot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；城市不编码，保留省份。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ACE3AC-1533-50D9-D1CB-A55640CE7CF9}"/>
              </a:ext>
            </a:extLst>
          </p:cNvPr>
          <p:cNvSpPr/>
          <p:nvPr/>
        </p:nvSpPr>
        <p:spPr>
          <a:xfrm>
            <a:off x="609600" y="1358900"/>
            <a:ext cx="10972800" cy="406400"/>
          </a:xfrm>
          <a:prstGeom prst="roundRect">
            <a:avLst/>
          </a:prstGeom>
          <a:solidFill>
            <a:srgbClr val="F4F6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AC7B1A-5770-B6B7-1B7D-DC3BD96FAF10}"/>
              </a:ext>
            </a:extLst>
          </p:cNvPr>
          <p:cNvSpPr txBox="1"/>
          <p:nvPr/>
        </p:nvSpPr>
        <p:spPr>
          <a:xfrm>
            <a:off x="787400" y="1464719"/>
            <a:ext cx="10617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行删除 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13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列剔除 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79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One-Hot  ·  115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111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特征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+ 2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标识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+ 2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0A83BB2-C3AA-5F7B-0E41-7B493AABD73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905000"/>
            <a:ext cx="10248900" cy="45720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E35E616-A97F-00D7-26EE-5405CC2C2D16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A01172-0AE5-B820-BD22-0525169D933A}"/>
              </a:ext>
            </a:extLst>
          </p:cNvPr>
          <p:cNvSpPr txBox="1"/>
          <p:nvPr/>
        </p:nvSpPr>
        <p:spPr>
          <a:xfrm>
            <a:off x="508000" y="66421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E22FCE-6D93-277C-9AC9-A0B43961B413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/ 10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5251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55C701-E074-97C8-D3A4-FB2126955C4C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66F9B8-4FB8-5598-0008-5AFAF28CDE58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清洗（二）：金额长尾不处理，异常分数会被极端值带偏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A98AA0-F884-F464-5C4A-293DFCE7CE23}"/>
              </a:ext>
            </a:extLst>
          </p:cNvPr>
          <p:cNvSpPr txBox="1"/>
          <p:nvPr/>
        </p:nvSpPr>
        <p:spPr>
          <a:xfrm>
            <a:off x="711200" y="838200"/>
            <a:ext cx="1092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 </a:t>
            </a:r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log1p </a:t>
            </a:r>
            <a:r>
              <a:rPr lang="zh-CN" altLang="en-US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压缩量级，再 </a:t>
            </a:r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z-score </a:t>
            </a:r>
            <a:r>
              <a:rPr lang="zh-CN" altLang="en-US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标准化；</a:t>
            </a:r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个金额</a:t>
            </a:r>
            <a:r>
              <a:rPr lang="en-US" altLang="zh-CN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比率字段统一处理。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2FE780-31E9-73EE-B3AF-9814B9249295}"/>
              </a:ext>
            </a:extLst>
          </p:cNvPr>
          <p:cNvSpPr txBox="1"/>
          <p:nvPr/>
        </p:nvSpPr>
        <p:spPr>
          <a:xfrm>
            <a:off x="711200" y="1143000"/>
            <a:ext cx="1092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关键发现：</a:t>
            </a:r>
            <a:r>
              <a:rPr lang="en-US" altLang="zh-CN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131 </a:t>
            </a:r>
            <a:r>
              <a:rPr lang="zh-CN" altLang="en-US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笔金额恰好 </a:t>
            </a:r>
            <a:r>
              <a:rPr lang="en-US" altLang="zh-CN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500,000 </a:t>
            </a:r>
            <a:r>
              <a:rPr lang="zh-CN" altLang="en-US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元，全部为金额突增异常</a:t>
            </a:r>
            <a:r>
              <a:rPr lang="en-US" altLang="zh-CN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——log1p </a:t>
            </a:r>
            <a:r>
              <a:rPr lang="zh-CN" altLang="en-US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后形成 </a:t>
            </a:r>
            <a:r>
              <a:rPr lang="en-US" altLang="zh-CN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13.1 </a:t>
            </a:r>
            <a:r>
              <a:rPr lang="zh-CN" altLang="en-US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处尖峰。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5FEE4D7-218B-1DFA-326C-2AEAB7D2306F}"/>
              </a:ext>
            </a:extLst>
          </p:cNvPr>
          <p:cNvSpPr/>
          <p:nvPr/>
        </p:nvSpPr>
        <p:spPr>
          <a:xfrm>
            <a:off x="609600" y="1358900"/>
            <a:ext cx="10972800" cy="406400"/>
          </a:xfrm>
          <a:prstGeom prst="roundRect">
            <a:avLst/>
          </a:prstGeom>
          <a:solidFill>
            <a:srgbClr val="F4F6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8469B3-CBA0-3799-D92B-44D451B3AA71}"/>
              </a:ext>
            </a:extLst>
          </p:cNvPr>
          <p:cNvSpPr txBox="1"/>
          <p:nvPr/>
        </p:nvSpPr>
        <p:spPr>
          <a:xfrm>
            <a:off x="787400" y="1464719"/>
            <a:ext cx="10617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偏度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10.70 → 0.52  ·  4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个字段 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9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项质量检查通过  </a:t>
            </a:r>
            <a:r>
              <a:rPr lang="en-US" altLang="zh-CN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 7,000 </a:t>
            </a:r>
            <a:r>
              <a:rPr lang="zh-CN" altLang="en-US" sz="12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行不变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ABFD9F2-839A-2D02-C762-4CE5FEF5325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1905000"/>
            <a:ext cx="10299700" cy="4572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C41AAD7-E913-D2E2-C3DF-15CF0EF990B5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83ED611-29B6-4643-D7B6-DEBF7D222BCC}"/>
              </a:ext>
            </a:extLst>
          </p:cNvPr>
          <p:cNvSpPr txBox="1"/>
          <p:nvPr/>
        </p:nvSpPr>
        <p:spPr>
          <a:xfrm>
            <a:off x="508000" y="66421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6574DB-7FC0-8562-16A4-7AEC01F410D6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/ 10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125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FBC20E-6306-7727-D71F-23DD1DC53DA0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9232B6-FE3F-A00D-1C2C-4C1589058A66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分析（一）：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Benford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整体正常，异常组露馅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25199D-62D7-5838-492B-E8E99190D73D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整体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MAD 0.00405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（高度符合）；正常组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0.00325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；异常组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0.03633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（明显不符合）。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0221B9-EFFA-EEF8-5B03-C957F09A96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803400"/>
            <a:ext cx="10248900" cy="4635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9363431-AAF9-E6DF-32BE-548BB2C58299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73C7E5-54EC-4090-8729-AD1C3A3DE0D2}"/>
              </a:ext>
            </a:extLst>
          </p:cNvPr>
          <p:cNvSpPr txBox="1"/>
          <p:nvPr/>
        </p:nvSpPr>
        <p:spPr>
          <a:xfrm>
            <a:off x="508000" y="66421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627CD5-4523-EB3B-7605-4B3F2B8B8B3B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/ 10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6032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761D2A-7EC3-F17A-C056-6172480C01D9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5718E-D20E-2746-D2CE-D96DD633E30F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分析（二）：模型把异常排在前面，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决定查多少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2631DF-985A-F119-05E7-DE46114D16DF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contamination=0.02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对应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140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条审计容量；分数排序不变，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可按人力调整。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69DB5A-05C1-163A-99D7-61CFE96A6B8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" y="1803400"/>
            <a:ext cx="10325100" cy="4635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AF2C7D7-2270-0FF9-EB3C-C9D889FD1ADF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FB2ED6-3C02-23DF-2C5A-1B8A9CA941A9}"/>
              </a:ext>
            </a:extLst>
          </p:cNvPr>
          <p:cNvSpPr txBox="1"/>
          <p:nvPr/>
        </p:nvSpPr>
        <p:spPr>
          <a:xfrm>
            <a:off x="508000" y="66421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210181-1F51-D846-0BB4-CF63B688266A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/ 10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0560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9E57AE-0A84-2479-D3C2-A6B3EDEBE912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F3BF7E-040B-B5BC-7400-564363F66577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理解与修正：规则和模型不是二选一，而是互补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5D4695-BB45-AA9D-3018-E66C9791A523}"/>
              </a:ext>
            </a:extLst>
          </p:cNvPr>
          <p:cNvSpPr txBox="1"/>
          <p:nvPr/>
        </p:nvSpPr>
        <p:spPr>
          <a:xfrm>
            <a:off x="711200" y="914400"/>
            <a:ext cx="10922000" cy="40844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仅模型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122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条（异常率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91.8%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）；同时命中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条（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94.4%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）→ 低重合、高互补</a:t>
            </a:r>
          </a:p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案例信号：审批延迟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339 min +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发票匹配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0.44  · 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供应商风险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0.86  · 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金额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阈值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97.4%</a:t>
            </a:r>
            <a:endParaRPr lang="zh-CN" altLang="en-US" sz="12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61FFC3-3651-2D0F-AA23-0B6699A9A8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1752600"/>
            <a:ext cx="9321800" cy="41910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1DB1048-B164-751E-CCDD-1330FA90D21C}"/>
              </a:ext>
            </a:extLst>
          </p:cNvPr>
          <p:cNvSpPr/>
          <p:nvPr/>
        </p:nvSpPr>
        <p:spPr>
          <a:xfrm>
            <a:off x="508000" y="6070600"/>
            <a:ext cx="11176000" cy="406400"/>
          </a:xfrm>
          <a:prstGeom prst="roundRect">
            <a:avLst/>
          </a:prstGeom>
          <a:solidFill>
            <a:srgbClr val="FDEB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BE93EF-3441-81B8-0F98-78EDEA65A19B}"/>
              </a:ext>
            </a:extLst>
          </p:cNvPr>
          <p:cNvSpPr txBox="1"/>
          <p:nvPr/>
        </p:nvSpPr>
        <p:spPr>
          <a:xfrm>
            <a:off x="736600" y="6146800"/>
            <a:ext cx="10718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9351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建议流程：</a:t>
            </a:r>
            <a:r>
              <a:rPr lang="en-US" altLang="zh-CN" sz="1050" b="1">
                <a:solidFill>
                  <a:srgbClr val="9351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Benford </a:t>
            </a:r>
            <a:r>
              <a:rPr lang="zh-CN" altLang="en-US" sz="1050" b="1">
                <a:solidFill>
                  <a:srgbClr val="9351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初筛（宽口径）→ 模型排序（高精度）→ 人工核查（</a:t>
            </a:r>
            <a:r>
              <a:rPr lang="en-US" altLang="zh-CN" sz="1050" b="1">
                <a:solidFill>
                  <a:srgbClr val="9351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 </a:t>
            </a:r>
            <a:r>
              <a:rPr lang="zh-CN" altLang="en-US" sz="1050" b="1">
                <a:solidFill>
                  <a:srgbClr val="9351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条双命中优先）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FF80CC-1470-765C-39F1-3A504EEBB103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5EF6A5-F193-85E7-E10F-2FCDFB721238}"/>
              </a:ext>
            </a:extLst>
          </p:cNvPr>
          <p:cNvSpPr txBox="1"/>
          <p:nvPr/>
        </p:nvSpPr>
        <p:spPr>
          <a:xfrm>
            <a:off x="508000" y="66421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BD5331-E6FC-1370-AA41-C4DF2ECE39A7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/ 10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2116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E73D6C-630E-7670-3C2A-937C29D6AFD1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A8FF2E-6DE5-2313-9B8B-EB5D57FDA715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收束：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2%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审计容量下，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Top-140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精确率 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92.1%</a:t>
            </a:r>
            <a:endParaRPr lang="zh-CN" altLang="en-US" sz="2300" b="1">
              <a:solidFill>
                <a:srgbClr val="1B263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185F56-E3D7-2A1D-54E4-22F457207BC7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7/8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类异常；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Benford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与模型低重合、高互补；跨省不匹配是短板。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5DA3545-D22F-063A-6785-7D44110DFDAD}"/>
              </a:ext>
            </a:extLst>
          </p:cNvPr>
          <p:cNvSpPr/>
          <p:nvPr/>
        </p:nvSpPr>
        <p:spPr>
          <a:xfrm>
            <a:off x="508000" y="1600200"/>
            <a:ext cx="3556000" cy="2667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E65570-E275-D943-50F2-C8B6DDB35560}"/>
              </a:ext>
            </a:extLst>
          </p:cNvPr>
          <p:cNvSpPr/>
          <p:nvPr/>
        </p:nvSpPr>
        <p:spPr>
          <a:xfrm>
            <a:off x="508000" y="1600200"/>
            <a:ext cx="3556000" cy="889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BFE25C-A70D-1521-AB27-526AF5EEA65D}"/>
              </a:ext>
            </a:extLst>
          </p:cNvPr>
          <p:cNvSpPr txBox="1"/>
          <p:nvPr/>
        </p:nvSpPr>
        <p:spPr>
          <a:xfrm>
            <a:off x="736600" y="1854200"/>
            <a:ext cx="3098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700" b="1">
                <a:solidFill>
                  <a:srgbClr val="2E86C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B054CD-B18C-2F10-853C-9F53AB5379A7}"/>
              </a:ext>
            </a:extLst>
          </p:cNvPr>
          <p:cNvSpPr txBox="1"/>
          <p:nvPr/>
        </p:nvSpPr>
        <p:spPr>
          <a:xfrm>
            <a:off x="736600" y="2463800"/>
            <a:ext cx="3098800" cy="6319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7,000 × 59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缺失</a:t>
            </a:r>
          </a:p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59 → 115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维，不删一行</a:t>
            </a:r>
          </a:p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955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条异常，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6.33 : 1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不平衡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4AFA28-FDA4-BDE0-3CC5-9780FD6325E3}"/>
              </a:ext>
            </a:extLst>
          </p:cNvPr>
          <p:cNvSpPr/>
          <p:nvPr/>
        </p:nvSpPr>
        <p:spPr>
          <a:xfrm>
            <a:off x="736600" y="3657600"/>
            <a:ext cx="30988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9D0669-450D-C80E-4EFB-DBC48D5BDC06}"/>
              </a:ext>
            </a:extLst>
          </p:cNvPr>
          <p:cNvSpPr txBox="1"/>
          <p:nvPr/>
        </p:nvSpPr>
        <p:spPr>
          <a:xfrm>
            <a:off x="736600" y="3784600"/>
            <a:ext cx="3098800" cy="13542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88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audit_clean.csv</a:t>
            </a:r>
            <a:endParaRPr lang="zh-CN" altLang="en-US" sz="88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3C11AE7-1592-61F2-9047-13D9AC491ED8}"/>
              </a:ext>
            </a:extLst>
          </p:cNvPr>
          <p:cNvSpPr/>
          <p:nvPr/>
        </p:nvSpPr>
        <p:spPr>
          <a:xfrm>
            <a:off x="4318000" y="1600200"/>
            <a:ext cx="3556000" cy="2667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2DF32C-6D40-6F51-85A6-1B82DECBA954}"/>
              </a:ext>
            </a:extLst>
          </p:cNvPr>
          <p:cNvSpPr/>
          <p:nvPr/>
        </p:nvSpPr>
        <p:spPr>
          <a:xfrm>
            <a:off x="4318000" y="1600200"/>
            <a:ext cx="3556000" cy="889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7B089C-E79B-3BDD-0D6E-0CD2B2496704}"/>
              </a:ext>
            </a:extLst>
          </p:cNvPr>
          <p:cNvSpPr txBox="1"/>
          <p:nvPr/>
        </p:nvSpPr>
        <p:spPr>
          <a:xfrm>
            <a:off x="4546600" y="1854200"/>
            <a:ext cx="3098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7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61931BB-32D4-6255-E9BB-C97FFEB6E698}"/>
              </a:ext>
            </a:extLst>
          </p:cNvPr>
          <p:cNvSpPr txBox="1"/>
          <p:nvPr/>
        </p:nvSpPr>
        <p:spPr>
          <a:xfrm>
            <a:off x="4546600" y="2463800"/>
            <a:ext cx="3098800" cy="6319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Benford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看整体分布</a:t>
            </a:r>
          </a:p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Isolation Forest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看多维组合</a:t>
            </a:r>
          </a:p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2×2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B66C08-9487-5698-6710-B3ACC2D31942}"/>
              </a:ext>
            </a:extLst>
          </p:cNvPr>
          <p:cNvSpPr/>
          <p:nvPr/>
        </p:nvSpPr>
        <p:spPr>
          <a:xfrm>
            <a:off x="4546600" y="3657600"/>
            <a:ext cx="30988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27DA28-BC33-9EC0-2457-64DB32012E03}"/>
              </a:ext>
            </a:extLst>
          </p:cNvPr>
          <p:cNvSpPr txBox="1"/>
          <p:nvPr/>
        </p:nvSpPr>
        <p:spPr>
          <a:xfrm>
            <a:off x="4546600" y="3784600"/>
            <a:ext cx="3098800" cy="13542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88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scores / flags</a:t>
            </a:r>
            <a:endParaRPr lang="zh-CN" altLang="en-US" sz="88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BC06426-A724-D4FF-8B85-11B7A459677E}"/>
              </a:ext>
            </a:extLst>
          </p:cNvPr>
          <p:cNvSpPr/>
          <p:nvPr/>
        </p:nvSpPr>
        <p:spPr>
          <a:xfrm>
            <a:off x="8128000" y="1600200"/>
            <a:ext cx="3556000" cy="2667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C16498-0E5E-93F7-4D54-D0F7D903F29B}"/>
              </a:ext>
            </a:extLst>
          </p:cNvPr>
          <p:cNvSpPr/>
          <p:nvPr/>
        </p:nvSpPr>
        <p:spPr>
          <a:xfrm>
            <a:off x="8128000" y="1600200"/>
            <a:ext cx="3556000" cy="889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94675A2-D9EF-5828-82DD-7841ABAEA3DF}"/>
              </a:ext>
            </a:extLst>
          </p:cNvPr>
          <p:cNvSpPr txBox="1"/>
          <p:nvPr/>
        </p:nvSpPr>
        <p:spPr>
          <a:xfrm>
            <a:off x="8356600" y="1854200"/>
            <a:ext cx="3098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70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AB80E8-B475-B52D-029C-6555B941EFF3}"/>
              </a:ext>
            </a:extLst>
          </p:cNvPr>
          <p:cNvSpPr txBox="1"/>
          <p:nvPr/>
        </p:nvSpPr>
        <p:spPr>
          <a:xfrm>
            <a:off x="8356600" y="2463800"/>
            <a:ext cx="3098800" cy="6319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Top-140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精确率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92.1%</a:t>
            </a:r>
          </a:p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/ 8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类异常</a:t>
            </a:r>
          </a:p>
          <a:p>
            <a:pPr>
              <a:lnSpc>
                <a:spcPct val="13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3 </a:t>
            </a:r>
            <a:r>
              <a:rPr lang="zh-CN" altLang="en-US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条可解释案例，假阳性 </a:t>
            </a: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7.9%</a:t>
            </a:r>
            <a:endParaRPr lang="zh-CN" altLang="en-US" sz="105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B15148-6752-B404-0017-9B2E6ABDCC75}"/>
              </a:ext>
            </a:extLst>
          </p:cNvPr>
          <p:cNvSpPr/>
          <p:nvPr/>
        </p:nvSpPr>
        <p:spPr>
          <a:xfrm>
            <a:off x="8356600" y="3657600"/>
            <a:ext cx="3098800" cy="1016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B82431-BFB0-B3B1-8B08-19AFE97CD92F}"/>
              </a:ext>
            </a:extLst>
          </p:cNvPr>
          <p:cNvSpPr txBox="1"/>
          <p:nvPr/>
        </p:nvSpPr>
        <p:spPr>
          <a:xfrm>
            <a:off x="8356600" y="3784600"/>
            <a:ext cx="3098800" cy="13542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88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 top140_audit_list.csv</a:t>
            </a:r>
            <a:endParaRPr lang="zh-CN" altLang="en-US" sz="88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85AAC2F-08A8-8252-7586-B8BC73380B7D}"/>
              </a:ext>
            </a:extLst>
          </p:cNvPr>
          <p:cNvSpPr/>
          <p:nvPr/>
        </p:nvSpPr>
        <p:spPr>
          <a:xfrm>
            <a:off x="508000" y="4495800"/>
            <a:ext cx="11176000" cy="1371600"/>
          </a:xfrm>
          <a:prstGeom prst="roundRect">
            <a:avLst/>
          </a:prstGeom>
          <a:solidFill>
            <a:srgbClr val="F4F6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3585686-465A-1F4D-D3A6-8970AA620909}"/>
              </a:ext>
            </a:extLst>
          </p:cNvPr>
          <p:cNvSpPr txBox="1"/>
          <p:nvPr/>
        </p:nvSpPr>
        <p:spPr>
          <a:xfrm>
            <a:off x="762000" y="46482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局限与下一步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7E6AAB-DB97-176C-8532-5B45A4E64964}"/>
              </a:ext>
            </a:extLst>
          </p:cNvPr>
          <p:cNvSpPr txBox="1"/>
          <p:nvPr/>
        </p:nvSpPr>
        <p:spPr>
          <a:xfrm>
            <a:off x="762000" y="4978400"/>
            <a:ext cx="10668000" cy="51924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8000"/>
              </a:lnSpc>
            </a:pP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无监督：标签只用于评估；</a:t>
            </a: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contamination=0.02 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是审计容量假设，不是真实异常率。</a:t>
            </a:r>
          </a:p>
          <a:p>
            <a:pPr>
              <a:lnSpc>
                <a:spcPct val="118000"/>
              </a:lnSpc>
            </a:pP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短板：</a:t>
            </a: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Cross_Province_Mismatch 115 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条未进入 </a:t>
            </a: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Top-140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；可补图特征或有监督模型。</a:t>
            </a:r>
          </a:p>
          <a:p>
            <a:pPr>
              <a:lnSpc>
                <a:spcPct val="118000"/>
              </a:lnSpc>
            </a:pP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下一步：接入真实凭证</a:t>
            </a: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流水，把 </a:t>
            </a: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Top-140 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名单做成审计工作台。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A97F131-1DC5-ACD6-56C5-4C9A96DC31E7}"/>
              </a:ext>
            </a:extLst>
          </p:cNvPr>
          <p:cNvSpPr/>
          <p:nvPr/>
        </p:nvSpPr>
        <p:spPr>
          <a:xfrm>
            <a:off x="508000" y="6045200"/>
            <a:ext cx="11176000" cy="381000"/>
          </a:xfrm>
          <a:prstGeom prst="roundRect">
            <a:avLst/>
          </a:prstGeom>
          <a:solidFill>
            <a:srgbClr val="EB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26D9D7-D533-0062-4BF4-8B6DC0C93153}"/>
              </a:ext>
            </a:extLst>
          </p:cNvPr>
          <p:cNvSpPr txBox="1"/>
          <p:nvPr/>
        </p:nvSpPr>
        <p:spPr>
          <a:xfrm>
            <a:off x="711200" y="6121400"/>
            <a:ext cx="107696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结论：无监督筛查能有效缩小核查范围，但最终判断仍需人工凭证核查。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590DBC-1F1E-934B-078B-EFBC08D74F31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D6F0398-16E1-00A1-3108-FE904B9F06C6}"/>
              </a:ext>
            </a:extLst>
          </p:cNvPr>
          <p:cNvSpPr txBox="1"/>
          <p:nvPr/>
        </p:nvSpPr>
        <p:spPr>
          <a:xfrm>
            <a:off x="508000" y="66421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B976E21-FA7F-E627-ED2E-0DE77CDCE784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/ 10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9958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4DD660-3DFF-A602-80CC-64BF29B9F461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00EA1C-210B-437F-D513-B4EDDF26D480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A-1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（备用）：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115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维到底由什么组成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D8125A-799E-EEC8-192A-28ADC01A86C4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59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 → 剔除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 →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46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 →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One-Hot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115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列；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行删除、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缺失。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D952D0-9047-2D75-005B-507793AC06C9}"/>
              </a:ext>
            </a:extLst>
          </p:cNvPr>
          <p:cNvSpPr/>
          <p:nvPr/>
        </p:nvSpPr>
        <p:spPr>
          <a:xfrm>
            <a:off x="508000" y="1854200"/>
            <a:ext cx="2159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B718A3-4BF3-ABC9-506C-B745D31E4974}"/>
              </a:ext>
            </a:extLst>
          </p:cNvPr>
          <p:cNvSpPr txBox="1"/>
          <p:nvPr/>
        </p:nvSpPr>
        <p:spPr>
          <a:xfrm>
            <a:off x="609600" y="2000808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组成部分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9C26F7-D383-4B5D-3D60-E63233E7C1A4}"/>
              </a:ext>
            </a:extLst>
          </p:cNvPr>
          <p:cNvSpPr/>
          <p:nvPr/>
        </p:nvSpPr>
        <p:spPr>
          <a:xfrm>
            <a:off x="2667000" y="1854200"/>
            <a:ext cx="1016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F8FE84-C441-BEDC-6EAD-A993A916EB1B}"/>
              </a:ext>
            </a:extLst>
          </p:cNvPr>
          <p:cNvSpPr txBox="1"/>
          <p:nvPr/>
        </p:nvSpPr>
        <p:spPr>
          <a:xfrm>
            <a:off x="2768600" y="2000808"/>
            <a:ext cx="812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93B4B8-81B8-DFB8-68FB-644C9CA414D5}"/>
              </a:ext>
            </a:extLst>
          </p:cNvPr>
          <p:cNvSpPr/>
          <p:nvPr/>
        </p:nvSpPr>
        <p:spPr>
          <a:xfrm>
            <a:off x="3683000" y="1854200"/>
            <a:ext cx="8001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DCAD20-1B1E-BD5C-2718-960444D36BEA}"/>
              </a:ext>
            </a:extLst>
          </p:cNvPr>
          <p:cNvSpPr txBox="1"/>
          <p:nvPr/>
        </p:nvSpPr>
        <p:spPr>
          <a:xfrm>
            <a:off x="3784600" y="2000808"/>
            <a:ext cx="7797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具体内容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40B23A-2AB6-8EE0-6652-D8B01BAD5AC9}"/>
              </a:ext>
            </a:extLst>
          </p:cNvPr>
          <p:cNvSpPr/>
          <p:nvPr/>
        </p:nvSpPr>
        <p:spPr>
          <a:xfrm>
            <a:off x="508000" y="2286000"/>
            <a:ext cx="2159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0A223A-4763-2006-BCE5-91A994227E80}"/>
              </a:ext>
            </a:extLst>
          </p:cNvPr>
          <p:cNvSpPr txBox="1"/>
          <p:nvPr/>
        </p:nvSpPr>
        <p:spPr>
          <a:xfrm>
            <a:off x="609600" y="2407208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One-Hot </a:t>
            </a:r>
            <a:r>
              <a:rPr lang="zh-CN" altLang="en-US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类别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59A0AE-FC17-B158-07D3-A8485FE42E5A}"/>
              </a:ext>
            </a:extLst>
          </p:cNvPr>
          <p:cNvSpPr/>
          <p:nvPr/>
        </p:nvSpPr>
        <p:spPr>
          <a:xfrm>
            <a:off x="2667000" y="2286000"/>
            <a:ext cx="1016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C4A161-44F0-C908-949E-E3806731417F}"/>
              </a:ext>
            </a:extLst>
          </p:cNvPr>
          <p:cNvSpPr txBox="1"/>
          <p:nvPr/>
        </p:nvSpPr>
        <p:spPr>
          <a:xfrm>
            <a:off x="2768600" y="2403361"/>
            <a:ext cx="812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79</a:t>
            </a:r>
            <a:endParaRPr lang="zh-CN" altLang="en-US" sz="110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8BE8DB-2C73-06A4-A274-2EEE14690760}"/>
              </a:ext>
            </a:extLst>
          </p:cNvPr>
          <p:cNvSpPr/>
          <p:nvPr/>
        </p:nvSpPr>
        <p:spPr>
          <a:xfrm>
            <a:off x="3683000" y="2286000"/>
            <a:ext cx="8001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CF9C207-7B67-3C34-FC27-A741EA75F0F8}"/>
              </a:ext>
            </a:extLst>
          </p:cNvPr>
          <p:cNvSpPr txBox="1"/>
          <p:nvPr/>
        </p:nvSpPr>
        <p:spPr>
          <a:xfrm>
            <a:off x="3784600" y="2416442"/>
            <a:ext cx="7797800" cy="1431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银行 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9+9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、省份 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12+12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、账户类型 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6+6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、支付渠道 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、发票类型 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、审批级别 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、边类型 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93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80A8BF-FF0E-8859-EADB-5ED9BC7E04A1}"/>
              </a:ext>
            </a:extLst>
          </p:cNvPr>
          <p:cNvSpPr/>
          <p:nvPr/>
        </p:nvSpPr>
        <p:spPr>
          <a:xfrm>
            <a:off x="508000" y="2768600"/>
            <a:ext cx="2159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6A5D4F6-869E-E534-85F8-36FB79A641B0}"/>
              </a:ext>
            </a:extLst>
          </p:cNvPr>
          <p:cNvSpPr txBox="1"/>
          <p:nvPr/>
        </p:nvSpPr>
        <p:spPr>
          <a:xfrm>
            <a:off x="609600" y="2889808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数值特征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0436D5-8E35-EE77-96A6-1F145AEF4147}"/>
              </a:ext>
            </a:extLst>
          </p:cNvPr>
          <p:cNvSpPr/>
          <p:nvPr/>
        </p:nvSpPr>
        <p:spPr>
          <a:xfrm>
            <a:off x="2667000" y="2768600"/>
            <a:ext cx="1016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E4BE4E-3490-9300-C23C-F30AF9724E60}"/>
              </a:ext>
            </a:extLst>
          </p:cNvPr>
          <p:cNvSpPr txBox="1"/>
          <p:nvPr/>
        </p:nvSpPr>
        <p:spPr>
          <a:xfrm>
            <a:off x="2768600" y="2885961"/>
            <a:ext cx="812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</a:t>
            </a:r>
            <a:endParaRPr lang="zh-CN" altLang="en-US" sz="110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379878-5E5F-6476-38C9-92D42815928F}"/>
              </a:ext>
            </a:extLst>
          </p:cNvPr>
          <p:cNvSpPr/>
          <p:nvPr/>
        </p:nvSpPr>
        <p:spPr>
          <a:xfrm>
            <a:off x="3683000" y="2768600"/>
            <a:ext cx="8001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3A37D0-5341-FE5B-D968-D792B569EF6E}"/>
              </a:ext>
            </a:extLst>
          </p:cNvPr>
          <p:cNvSpPr txBox="1"/>
          <p:nvPr/>
        </p:nvSpPr>
        <p:spPr>
          <a:xfrm>
            <a:off x="3784600" y="2899041"/>
            <a:ext cx="7797800" cy="1431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时间、账龄、评分、计数等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E85330-0A2F-7F1B-449E-7123F4E9871A}"/>
              </a:ext>
            </a:extLst>
          </p:cNvPr>
          <p:cNvSpPr/>
          <p:nvPr/>
        </p:nvSpPr>
        <p:spPr>
          <a:xfrm>
            <a:off x="508000" y="3251200"/>
            <a:ext cx="2159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35710C-D5DB-D409-600E-A7DF5E4E063B}"/>
              </a:ext>
            </a:extLst>
          </p:cNvPr>
          <p:cNvSpPr txBox="1"/>
          <p:nvPr/>
        </p:nvSpPr>
        <p:spPr>
          <a:xfrm>
            <a:off x="609600" y="3372408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金额 </a:t>
            </a:r>
            <a:r>
              <a:rPr lang="en-US" altLang="zh-CN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比率 </a:t>
            </a:r>
            <a:r>
              <a:rPr lang="en-US" altLang="zh-CN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log1p+z</a:t>
            </a:r>
            <a:endParaRPr lang="zh-CN" altLang="en-US" sz="1050" b="1">
              <a:solidFill>
                <a:srgbClr val="1B263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D13CB64-3C54-756F-4F52-23559E7F889A}"/>
              </a:ext>
            </a:extLst>
          </p:cNvPr>
          <p:cNvSpPr/>
          <p:nvPr/>
        </p:nvSpPr>
        <p:spPr>
          <a:xfrm>
            <a:off x="2667000" y="3251200"/>
            <a:ext cx="1016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968B04-01CD-5DB9-B182-A6A28BD51AA4}"/>
              </a:ext>
            </a:extLst>
          </p:cNvPr>
          <p:cNvSpPr txBox="1"/>
          <p:nvPr/>
        </p:nvSpPr>
        <p:spPr>
          <a:xfrm>
            <a:off x="2768600" y="3368561"/>
            <a:ext cx="812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10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3990764-46F0-C54A-3FC7-6DF9FF1A38BB}"/>
              </a:ext>
            </a:extLst>
          </p:cNvPr>
          <p:cNvSpPr/>
          <p:nvPr/>
        </p:nvSpPr>
        <p:spPr>
          <a:xfrm>
            <a:off x="3683000" y="3251200"/>
            <a:ext cx="8001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93DC366-1E12-3027-EBD1-B4FAD52A25A3}"/>
              </a:ext>
            </a:extLst>
          </p:cNvPr>
          <p:cNvSpPr txBox="1"/>
          <p:nvPr/>
        </p:nvSpPr>
        <p:spPr>
          <a:xfrm>
            <a:off x="3784600" y="3381641"/>
            <a:ext cx="7797800" cy="1431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交易金额、历史均值、交易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均值比、阈值比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BBC1E1-866B-1D38-A003-DF57D1CB00F3}"/>
              </a:ext>
            </a:extLst>
          </p:cNvPr>
          <p:cNvSpPr/>
          <p:nvPr/>
        </p:nvSpPr>
        <p:spPr>
          <a:xfrm>
            <a:off x="508000" y="3733800"/>
            <a:ext cx="2159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5CF9196-473C-675B-ADA7-F80728A0B517}"/>
              </a:ext>
            </a:extLst>
          </p:cNvPr>
          <p:cNvSpPr txBox="1"/>
          <p:nvPr/>
        </p:nvSpPr>
        <p:spPr>
          <a:xfrm>
            <a:off x="609600" y="3855008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标识列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4209277-B461-B77D-383B-B5E20B02ABCC}"/>
              </a:ext>
            </a:extLst>
          </p:cNvPr>
          <p:cNvSpPr/>
          <p:nvPr/>
        </p:nvSpPr>
        <p:spPr>
          <a:xfrm>
            <a:off x="2667000" y="3733800"/>
            <a:ext cx="1016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464E7CA-09BA-ADB8-DA3C-D057ACC3FCFC}"/>
              </a:ext>
            </a:extLst>
          </p:cNvPr>
          <p:cNvSpPr txBox="1"/>
          <p:nvPr/>
        </p:nvSpPr>
        <p:spPr>
          <a:xfrm>
            <a:off x="2768600" y="3851161"/>
            <a:ext cx="812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10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C0987D-29ED-204C-40A0-F1A8752B1279}"/>
              </a:ext>
            </a:extLst>
          </p:cNvPr>
          <p:cNvSpPr/>
          <p:nvPr/>
        </p:nvSpPr>
        <p:spPr>
          <a:xfrm>
            <a:off x="3683000" y="3733800"/>
            <a:ext cx="8001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4371145-B93C-FAAA-E957-FB6A863BBC8D}"/>
              </a:ext>
            </a:extLst>
          </p:cNvPr>
          <p:cNvSpPr txBox="1"/>
          <p:nvPr/>
        </p:nvSpPr>
        <p:spPr>
          <a:xfrm>
            <a:off x="3784600" y="3864241"/>
            <a:ext cx="7797800" cy="1431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Transaction_ID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Transaction_DateTime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（不进入模型）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DAC8068-804C-0D1D-866F-F2615B82932B}"/>
              </a:ext>
            </a:extLst>
          </p:cNvPr>
          <p:cNvSpPr/>
          <p:nvPr/>
        </p:nvSpPr>
        <p:spPr>
          <a:xfrm>
            <a:off x="508000" y="4216400"/>
            <a:ext cx="2159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007F884-58C1-3367-FB5A-1D86C924BF7A}"/>
              </a:ext>
            </a:extLst>
          </p:cNvPr>
          <p:cNvSpPr txBox="1"/>
          <p:nvPr/>
        </p:nvSpPr>
        <p:spPr>
          <a:xfrm>
            <a:off x="609600" y="4337608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标签列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89A36F4-5549-98D8-F068-1765C2E6E6CC}"/>
              </a:ext>
            </a:extLst>
          </p:cNvPr>
          <p:cNvSpPr/>
          <p:nvPr/>
        </p:nvSpPr>
        <p:spPr>
          <a:xfrm>
            <a:off x="2667000" y="4216400"/>
            <a:ext cx="1016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371AE7F-3417-E8DE-3949-C3AFA179794F}"/>
              </a:ext>
            </a:extLst>
          </p:cNvPr>
          <p:cNvSpPr txBox="1"/>
          <p:nvPr/>
        </p:nvSpPr>
        <p:spPr>
          <a:xfrm>
            <a:off x="2768600" y="4333761"/>
            <a:ext cx="812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10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FCC37A5-2696-308C-EFCC-33105C7EF41B}"/>
              </a:ext>
            </a:extLst>
          </p:cNvPr>
          <p:cNvSpPr/>
          <p:nvPr/>
        </p:nvSpPr>
        <p:spPr>
          <a:xfrm>
            <a:off x="3683000" y="4216400"/>
            <a:ext cx="8001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DCF9970-B58A-0FF9-B122-5D17CCDFC393}"/>
              </a:ext>
            </a:extLst>
          </p:cNvPr>
          <p:cNvSpPr txBox="1"/>
          <p:nvPr/>
        </p:nvSpPr>
        <p:spPr>
          <a:xfrm>
            <a:off x="3784600" y="4346841"/>
            <a:ext cx="7797800" cy="1431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Abnormal_Label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Abnormal_Type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（只用于评估</a:t>
            </a:r>
            <a:r>
              <a:rPr lang="en-US" altLang="zh-CN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3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对照）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0C746E8-E025-DCB3-E496-CD5F69F433A8}"/>
              </a:ext>
            </a:extLst>
          </p:cNvPr>
          <p:cNvSpPr/>
          <p:nvPr/>
        </p:nvSpPr>
        <p:spPr>
          <a:xfrm>
            <a:off x="508000" y="4699000"/>
            <a:ext cx="2159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50CF31B-1873-2A91-B41C-F6710395C8CE}"/>
              </a:ext>
            </a:extLst>
          </p:cNvPr>
          <p:cNvSpPr txBox="1"/>
          <p:nvPr/>
        </p:nvSpPr>
        <p:spPr>
          <a:xfrm>
            <a:off x="609600" y="4820208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合计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B5F872-0F07-007F-28F3-E7D8FA94704B}"/>
              </a:ext>
            </a:extLst>
          </p:cNvPr>
          <p:cNvSpPr/>
          <p:nvPr/>
        </p:nvSpPr>
        <p:spPr>
          <a:xfrm>
            <a:off x="2667000" y="4699000"/>
            <a:ext cx="1016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3BCF1E0-999D-12B0-EB7E-25605F334EE3}"/>
              </a:ext>
            </a:extLst>
          </p:cNvPr>
          <p:cNvSpPr txBox="1"/>
          <p:nvPr/>
        </p:nvSpPr>
        <p:spPr>
          <a:xfrm>
            <a:off x="2768600" y="4816361"/>
            <a:ext cx="8128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1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115</a:t>
            </a:r>
            <a:endParaRPr lang="zh-CN" altLang="en-US" sz="110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C676DD2-6199-72A2-418A-D7BDCA5B2417}"/>
              </a:ext>
            </a:extLst>
          </p:cNvPr>
          <p:cNvSpPr/>
          <p:nvPr/>
        </p:nvSpPr>
        <p:spPr>
          <a:xfrm>
            <a:off x="3683000" y="4699000"/>
            <a:ext cx="8001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3FA9F06-85A4-BA85-49B3-1DD8FC465CCD}"/>
              </a:ext>
            </a:extLst>
          </p:cNvPr>
          <p:cNvSpPr txBox="1"/>
          <p:nvPr/>
        </p:nvSpPr>
        <p:spPr>
          <a:xfrm>
            <a:off x="3784600" y="4829441"/>
            <a:ext cx="7797800" cy="14311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3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</a:t>
            </a:r>
            <a:r>
              <a:rPr lang="en-US" altLang="zh-CN" sz="93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111 </a:t>
            </a:r>
            <a:r>
              <a:rPr lang="zh-CN" altLang="en-US" sz="93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个特征参与建模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2108F52F-A07D-63F7-052B-01E04C92BF11}"/>
              </a:ext>
            </a:extLst>
          </p:cNvPr>
          <p:cNvSpPr/>
          <p:nvPr/>
        </p:nvSpPr>
        <p:spPr>
          <a:xfrm>
            <a:off x="508000" y="5461000"/>
            <a:ext cx="11176000" cy="406400"/>
          </a:xfrm>
          <a:prstGeom prst="roundRect">
            <a:avLst/>
          </a:prstGeom>
          <a:solidFill>
            <a:srgbClr val="EB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669B199-D84A-E8BC-ADEB-A76044A21C16}"/>
              </a:ext>
            </a:extLst>
          </p:cNvPr>
          <p:cNvSpPr txBox="1"/>
          <p:nvPr/>
        </p:nvSpPr>
        <p:spPr>
          <a:xfrm>
            <a:off x="736600" y="5537200"/>
            <a:ext cx="10718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115 = 79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One-Hot + 28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个数值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+ 4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个金额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比率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+ 2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个标识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+ 2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个标签；建模只用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111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个特征。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7037B00-7C2C-7BBD-5B8F-0A01BCA923BA}"/>
              </a:ext>
            </a:extLst>
          </p:cNvPr>
          <p:cNvSpPr txBox="1"/>
          <p:nvPr/>
        </p:nvSpPr>
        <p:spPr>
          <a:xfrm>
            <a:off x="711200" y="60198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被剔除的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列：常量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Currency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、泄漏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Risk_Class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、节点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与名称、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Invoice_ID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、两个城市列。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0466D86-5574-F39F-2DE7-599C36D5207C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F50CF59-609D-3EDD-6FF8-0C149013E9B5}"/>
              </a:ext>
            </a:extLst>
          </p:cNvPr>
          <p:cNvSpPr txBox="1"/>
          <p:nvPr/>
        </p:nvSpPr>
        <p:spPr>
          <a:xfrm>
            <a:off x="508000" y="6642100"/>
            <a:ext cx="787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备用页（不计入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页主线）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078DF69-00F4-C756-F746-2D6B7B1359DD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A-1 / 3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564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2AF15D4-95AC-0949-D110-C275823C4097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E89E3F-0CA4-9ADC-4D28-AEF910239F0E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A-2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（备用）：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全表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——K 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由审计人力决定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881DEE-91DD-710B-079C-9486E7BAB5DB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分数排序不变；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越大，召回越高、精确率越低。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K=140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对应本项目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2%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审计容量。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D7A2BC-669D-A45C-7F97-94E190A0640F}"/>
              </a:ext>
            </a:extLst>
          </p:cNvPr>
          <p:cNvSpPr/>
          <p:nvPr/>
        </p:nvSpPr>
        <p:spPr>
          <a:xfrm>
            <a:off x="508000" y="1854200"/>
            <a:ext cx="1016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F9286C-F625-B582-F0A8-CA8A434D92CA}"/>
              </a:ext>
            </a:extLst>
          </p:cNvPr>
          <p:cNvSpPr txBox="1"/>
          <p:nvPr/>
        </p:nvSpPr>
        <p:spPr>
          <a:xfrm>
            <a:off x="609600" y="2000808"/>
            <a:ext cx="812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endParaRPr lang="zh-CN" altLang="en-US"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18B20C-BE96-FDC8-E012-3480FE01CAF7}"/>
              </a:ext>
            </a:extLst>
          </p:cNvPr>
          <p:cNvSpPr/>
          <p:nvPr/>
        </p:nvSpPr>
        <p:spPr>
          <a:xfrm>
            <a:off x="1524000" y="1854200"/>
            <a:ext cx="1143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57B046-F9BD-5929-3D33-3B135E8EFFF1}"/>
              </a:ext>
            </a:extLst>
          </p:cNvPr>
          <p:cNvSpPr txBox="1"/>
          <p:nvPr/>
        </p:nvSpPr>
        <p:spPr>
          <a:xfrm>
            <a:off x="1625600" y="2000808"/>
            <a:ext cx="939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46880E-A47A-8B96-8354-F786F8357FC2}"/>
              </a:ext>
            </a:extLst>
          </p:cNvPr>
          <p:cNvSpPr/>
          <p:nvPr/>
        </p:nvSpPr>
        <p:spPr>
          <a:xfrm>
            <a:off x="2667000" y="1854200"/>
            <a:ext cx="1397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0A3FEA-FA34-E63B-9FDF-F0AB7E17CDE7}"/>
              </a:ext>
            </a:extLst>
          </p:cNvPr>
          <p:cNvSpPr txBox="1"/>
          <p:nvPr/>
        </p:nvSpPr>
        <p:spPr>
          <a:xfrm>
            <a:off x="2768600" y="20008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15E02E-471C-F6D5-405C-583CA7CF6E26}"/>
              </a:ext>
            </a:extLst>
          </p:cNvPr>
          <p:cNvSpPr/>
          <p:nvPr/>
        </p:nvSpPr>
        <p:spPr>
          <a:xfrm>
            <a:off x="4064000" y="1854200"/>
            <a:ext cx="1397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D3A536-4B89-3CAC-171D-1F4217ABF4B5}"/>
              </a:ext>
            </a:extLst>
          </p:cNvPr>
          <p:cNvSpPr txBox="1"/>
          <p:nvPr/>
        </p:nvSpPr>
        <p:spPr>
          <a:xfrm>
            <a:off x="4165600" y="20008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召回率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A50531-E227-78DF-B4AE-C5DE497B4B6D}"/>
              </a:ext>
            </a:extLst>
          </p:cNvPr>
          <p:cNvSpPr/>
          <p:nvPr/>
        </p:nvSpPr>
        <p:spPr>
          <a:xfrm>
            <a:off x="5461000" y="1854200"/>
            <a:ext cx="1270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A6A35B-A1A7-7C66-F72A-63BB6E97F0F4}"/>
              </a:ext>
            </a:extLst>
          </p:cNvPr>
          <p:cNvSpPr txBox="1"/>
          <p:nvPr/>
        </p:nvSpPr>
        <p:spPr>
          <a:xfrm>
            <a:off x="5562600" y="2000808"/>
            <a:ext cx="1066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lift</a:t>
            </a:r>
            <a:endParaRPr lang="zh-CN" altLang="en-US"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078B5D-F014-6A9A-1EE0-6721E14687BB}"/>
              </a:ext>
            </a:extLst>
          </p:cNvPr>
          <p:cNvSpPr/>
          <p:nvPr/>
        </p:nvSpPr>
        <p:spPr>
          <a:xfrm>
            <a:off x="6731000" y="1854200"/>
            <a:ext cx="4953000" cy="431800"/>
          </a:xfrm>
          <a:prstGeom prst="rect">
            <a:avLst/>
          </a:prstGeom>
          <a:solidFill>
            <a:srgbClr val="1F4E79"/>
          </a:solidFill>
          <a:ln w="1143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447512-37B2-FCBD-74A5-EDDEC6E66C3F}"/>
              </a:ext>
            </a:extLst>
          </p:cNvPr>
          <p:cNvSpPr txBox="1"/>
          <p:nvPr/>
        </p:nvSpPr>
        <p:spPr>
          <a:xfrm>
            <a:off x="6832600" y="2000808"/>
            <a:ext cx="4749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适用场景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7165EF-4C24-700F-18E3-391539260754}"/>
              </a:ext>
            </a:extLst>
          </p:cNvPr>
          <p:cNvSpPr/>
          <p:nvPr/>
        </p:nvSpPr>
        <p:spPr>
          <a:xfrm>
            <a:off x="508000" y="2286000"/>
            <a:ext cx="1016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3815BD-4A7E-9F61-BA41-EB97F48B1D2D}"/>
              </a:ext>
            </a:extLst>
          </p:cNvPr>
          <p:cNvSpPr txBox="1"/>
          <p:nvPr/>
        </p:nvSpPr>
        <p:spPr>
          <a:xfrm>
            <a:off x="609600" y="2407208"/>
            <a:ext cx="812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endParaRPr lang="zh-CN" altLang="en-US" sz="10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6DF6349-686E-F937-88F8-3602897E52B7}"/>
              </a:ext>
            </a:extLst>
          </p:cNvPr>
          <p:cNvSpPr/>
          <p:nvPr/>
        </p:nvSpPr>
        <p:spPr>
          <a:xfrm>
            <a:off x="1524000" y="2286000"/>
            <a:ext cx="1143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9C7DC5-E2E6-249D-7B5C-AB0BAD19397A}"/>
              </a:ext>
            </a:extLst>
          </p:cNvPr>
          <p:cNvSpPr txBox="1"/>
          <p:nvPr/>
        </p:nvSpPr>
        <p:spPr>
          <a:xfrm>
            <a:off x="1625600" y="2411055"/>
            <a:ext cx="939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0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</a:t>
            </a:r>
            <a:endParaRPr lang="zh-CN" altLang="en-US" sz="100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23CA3F-1A77-0996-5FA3-5AAB0BBF65DE}"/>
              </a:ext>
            </a:extLst>
          </p:cNvPr>
          <p:cNvSpPr/>
          <p:nvPr/>
        </p:nvSpPr>
        <p:spPr>
          <a:xfrm>
            <a:off x="2667000" y="2286000"/>
            <a:ext cx="1397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9CA72E-1A09-1D2F-90D6-5D7A2A304FEF}"/>
              </a:ext>
            </a:extLst>
          </p:cNvPr>
          <p:cNvSpPr txBox="1"/>
          <p:nvPr/>
        </p:nvSpPr>
        <p:spPr>
          <a:xfrm>
            <a:off x="2768600" y="24072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98.0%</a:t>
            </a:r>
            <a:endParaRPr lang="zh-CN" altLang="en-US" sz="1050" b="1">
              <a:solidFill>
                <a:srgbClr val="27AE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50EB066-348E-1CF0-C3FA-EF6CA3C62B21}"/>
              </a:ext>
            </a:extLst>
          </p:cNvPr>
          <p:cNvSpPr/>
          <p:nvPr/>
        </p:nvSpPr>
        <p:spPr>
          <a:xfrm>
            <a:off x="4064000" y="2286000"/>
            <a:ext cx="1397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1E4C2F4-500F-12AD-7092-A388D2534906}"/>
              </a:ext>
            </a:extLst>
          </p:cNvPr>
          <p:cNvSpPr txBox="1"/>
          <p:nvPr/>
        </p:nvSpPr>
        <p:spPr>
          <a:xfrm>
            <a:off x="4165600" y="24072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5.1%</a:t>
            </a:r>
            <a:endParaRPr lang="zh-CN" altLang="en-US" sz="105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2E975C-2EE3-7F86-8C82-1B7F8075F3E5}"/>
              </a:ext>
            </a:extLst>
          </p:cNvPr>
          <p:cNvSpPr/>
          <p:nvPr/>
        </p:nvSpPr>
        <p:spPr>
          <a:xfrm>
            <a:off x="5461000" y="2286000"/>
            <a:ext cx="1270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E7B2D6E-C4FD-CD20-92D0-2D786AAFF859}"/>
              </a:ext>
            </a:extLst>
          </p:cNvPr>
          <p:cNvSpPr txBox="1"/>
          <p:nvPr/>
        </p:nvSpPr>
        <p:spPr>
          <a:xfrm>
            <a:off x="5562600" y="2407208"/>
            <a:ext cx="1066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7.18×</a:t>
            </a:r>
            <a:endParaRPr lang="zh-CN" altLang="en-US" sz="1050" b="1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4A2E89-6AFF-4024-1900-850413264305}"/>
              </a:ext>
            </a:extLst>
          </p:cNvPr>
          <p:cNvSpPr/>
          <p:nvPr/>
        </p:nvSpPr>
        <p:spPr>
          <a:xfrm>
            <a:off x="6731000" y="2286000"/>
            <a:ext cx="4953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2A7355-3C9F-FE94-73DE-D3137993053F}"/>
              </a:ext>
            </a:extLst>
          </p:cNvPr>
          <p:cNvSpPr txBox="1"/>
          <p:nvPr/>
        </p:nvSpPr>
        <p:spPr>
          <a:xfrm>
            <a:off x="6832600" y="2414902"/>
            <a:ext cx="4749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只能查半天：先抓最稳的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F28A072-EA33-3CE3-B2DE-078A9850736E}"/>
              </a:ext>
            </a:extLst>
          </p:cNvPr>
          <p:cNvSpPr/>
          <p:nvPr/>
        </p:nvSpPr>
        <p:spPr>
          <a:xfrm>
            <a:off x="508000" y="2768600"/>
            <a:ext cx="1016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D1C894B-69BB-66EB-D94C-D1D25021AE13}"/>
              </a:ext>
            </a:extLst>
          </p:cNvPr>
          <p:cNvSpPr txBox="1"/>
          <p:nvPr/>
        </p:nvSpPr>
        <p:spPr>
          <a:xfrm>
            <a:off x="609600" y="2889808"/>
            <a:ext cx="812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endParaRPr lang="zh-CN" altLang="en-US" sz="10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F0C5FD-12E3-63A3-1E37-70D05BEF460B}"/>
              </a:ext>
            </a:extLst>
          </p:cNvPr>
          <p:cNvSpPr/>
          <p:nvPr/>
        </p:nvSpPr>
        <p:spPr>
          <a:xfrm>
            <a:off x="1524000" y="2768600"/>
            <a:ext cx="1143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2D330C5-4F38-4043-ECAC-7DD92FEEC59A}"/>
              </a:ext>
            </a:extLst>
          </p:cNvPr>
          <p:cNvSpPr txBox="1"/>
          <p:nvPr/>
        </p:nvSpPr>
        <p:spPr>
          <a:xfrm>
            <a:off x="1625600" y="2893655"/>
            <a:ext cx="939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0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96</a:t>
            </a:r>
            <a:endParaRPr lang="zh-CN" altLang="en-US" sz="100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3102753-4A2C-1CCB-1B14-C1D747FA8E8E}"/>
              </a:ext>
            </a:extLst>
          </p:cNvPr>
          <p:cNvSpPr/>
          <p:nvPr/>
        </p:nvSpPr>
        <p:spPr>
          <a:xfrm>
            <a:off x="2667000" y="2768600"/>
            <a:ext cx="1397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6BD71AD-D2CF-F135-BD25-9292ADFDA9ED}"/>
              </a:ext>
            </a:extLst>
          </p:cNvPr>
          <p:cNvSpPr txBox="1"/>
          <p:nvPr/>
        </p:nvSpPr>
        <p:spPr>
          <a:xfrm>
            <a:off x="2768600" y="28898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96.0%</a:t>
            </a:r>
            <a:endParaRPr lang="zh-CN" altLang="en-US" sz="1050" b="1">
              <a:solidFill>
                <a:srgbClr val="27AE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A2FA521-1BB1-AAD4-7A83-140E88148AF8}"/>
              </a:ext>
            </a:extLst>
          </p:cNvPr>
          <p:cNvSpPr/>
          <p:nvPr/>
        </p:nvSpPr>
        <p:spPr>
          <a:xfrm>
            <a:off x="4064000" y="2768600"/>
            <a:ext cx="1397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CD53437-67CD-C370-7E92-88BCDF85D87E}"/>
              </a:ext>
            </a:extLst>
          </p:cNvPr>
          <p:cNvSpPr txBox="1"/>
          <p:nvPr/>
        </p:nvSpPr>
        <p:spPr>
          <a:xfrm>
            <a:off x="4165600" y="28898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10.1%</a:t>
            </a:r>
            <a:endParaRPr lang="zh-CN" altLang="en-US" sz="105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B291B90-44A8-44EA-DFBE-F64254D447C3}"/>
              </a:ext>
            </a:extLst>
          </p:cNvPr>
          <p:cNvSpPr/>
          <p:nvPr/>
        </p:nvSpPr>
        <p:spPr>
          <a:xfrm>
            <a:off x="5461000" y="2768600"/>
            <a:ext cx="1270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09EE703-A3EE-3C17-C9B3-E426D27DDFF5}"/>
              </a:ext>
            </a:extLst>
          </p:cNvPr>
          <p:cNvSpPr txBox="1"/>
          <p:nvPr/>
        </p:nvSpPr>
        <p:spPr>
          <a:xfrm>
            <a:off x="5562600" y="2889808"/>
            <a:ext cx="1066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7.04×</a:t>
            </a:r>
            <a:endParaRPr lang="zh-CN" altLang="en-US" sz="1050" b="1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C1536B4-A27E-920A-8B3F-AC5A56128879}"/>
              </a:ext>
            </a:extLst>
          </p:cNvPr>
          <p:cNvSpPr/>
          <p:nvPr/>
        </p:nvSpPr>
        <p:spPr>
          <a:xfrm>
            <a:off x="6731000" y="2768600"/>
            <a:ext cx="4953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5A8F2A0-CAFB-82C4-000C-135D7C800B67}"/>
              </a:ext>
            </a:extLst>
          </p:cNvPr>
          <p:cNvSpPr txBox="1"/>
          <p:nvPr/>
        </p:nvSpPr>
        <p:spPr>
          <a:xfrm>
            <a:off x="6832600" y="2897502"/>
            <a:ext cx="4749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 </a:t>
            </a:r>
            <a:r>
              <a:rPr lang="en-US" altLang="zh-CN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6154D9F-FAD3-FF37-4858-EE783F0CBEB5}"/>
              </a:ext>
            </a:extLst>
          </p:cNvPr>
          <p:cNvSpPr/>
          <p:nvPr/>
        </p:nvSpPr>
        <p:spPr>
          <a:xfrm>
            <a:off x="508000" y="3251200"/>
            <a:ext cx="1016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7E484F6-E705-E0F5-8278-7913163488C6}"/>
              </a:ext>
            </a:extLst>
          </p:cNvPr>
          <p:cNvSpPr txBox="1"/>
          <p:nvPr/>
        </p:nvSpPr>
        <p:spPr>
          <a:xfrm>
            <a:off x="609600" y="3372408"/>
            <a:ext cx="812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140</a:t>
            </a:r>
            <a:endParaRPr lang="zh-CN" altLang="en-US" sz="10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B08EE31-5970-F5D9-A6A6-B980A52D66C9}"/>
              </a:ext>
            </a:extLst>
          </p:cNvPr>
          <p:cNvSpPr/>
          <p:nvPr/>
        </p:nvSpPr>
        <p:spPr>
          <a:xfrm>
            <a:off x="1524000" y="3251200"/>
            <a:ext cx="1143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4CD1F1E-EE9C-F045-93D3-A2A00E23869F}"/>
              </a:ext>
            </a:extLst>
          </p:cNvPr>
          <p:cNvSpPr txBox="1"/>
          <p:nvPr/>
        </p:nvSpPr>
        <p:spPr>
          <a:xfrm>
            <a:off x="1625600" y="3376255"/>
            <a:ext cx="939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0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129</a:t>
            </a:r>
            <a:endParaRPr lang="zh-CN" altLang="en-US" sz="1000" b="1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3114E25-26B9-39CA-D5A2-7972D8B73401}"/>
              </a:ext>
            </a:extLst>
          </p:cNvPr>
          <p:cNvSpPr/>
          <p:nvPr/>
        </p:nvSpPr>
        <p:spPr>
          <a:xfrm>
            <a:off x="2667000" y="3251200"/>
            <a:ext cx="1397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F64BE73-72C8-F095-5E44-A34B1A9F6C9F}"/>
              </a:ext>
            </a:extLst>
          </p:cNvPr>
          <p:cNvSpPr txBox="1"/>
          <p:nvPr/>
        </p:nvSpPr>
        <p:spPr>
          <a:xfrm>
            <a:off x="2768600" y="33724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92.1%</a:t>
            </a:r>
            <a:endParaRPr lang="zh-CN" altLang="en-US" sz="1050" b="1">
              <a:solidFill>
                <a:srgbClr val="27AE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7927866-AA02-86F7-832E-0D82646D010C}"/>
              </a:ext>
            </a:extLst>
          </p:cNvPr>
          <p:cNvSpPr/>
          <p:nvPr/>
        </p:nvSpPr>
        <p:spPr>
          <a:xfrm>
            <a:off x="4064000" y="3251200"/>
            <a:ext cx="1397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5F8C421-D58C-3BA6-4C30-41E658DCE785}"/>
              </a:ext>
            </a:extLst>
          </p:cNvPr>
          <p:cNvSpPr txBox="1"/>
          <p:nvPr/>
        </p:nvSpPr>
        <p:spPr>
          <a:xfrm>
            <a:off x="4165600" y="33724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13.5%</a:t>
            </a:r>
            <a:endParaRPr lang="zh-CN" altLang="en-US" sz="1050" b="1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735202B-81F1-6EE8-55E6-FB82C5629BEA}"/>
              </a:ext>
            </a:extLst>
          </p:cNvPr>
          <p:cNvSpPr/>
          <p:nvPr/>
        </p:nvSpPr>
        <p:spPr>
          <a:xfrm>
            <a:off x="5461000" y="3251200"/>
            <a:ext cx="1270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D8A945F-9A85-591D-3A87-E51EF928CDC1}"/>
              </a:ext>
            </a:extLst>
          </p:cNvPr>
          <p:cNvSpPr txBox="1"/>
          <p:nvPr/>
        </p:nvSpPr>
        <p:spPr>
          <a:xfrm>
            <a:off x="5562600" y="3372408"/>
            <a:ext cx="1066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6.75×</a:t>
            </a:r>
            <a:endParaRPr lang="zh-CN" altLang="en-US" sz="1050" b="1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A9D0ABC-80D2-3599-1CB6-19A77FAF2AF2}"/>
              </a:ext>
            </a:extLst>
          </p:cNvPr>
          <p:cNvSpPr/>
          <p:nvPr/>
        </p:nvSpPr>
        <p:spPr>
          <a:xfrm>
            <a:off x="6731000" y="3251200"/>
            <a:ext cx="4953000" cy="482600"/>
          </a:xfrm>
          <a:prstGeom prst="rect">
            <a:avLst/>
          </a:prstGeom>
          <a:solidFill>
            <a:srgbClr val="EBF5FB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80F264B-3936-5F97-E1D0-A7327D3D316E}"/>
              </a:ext>
            </a:extLst>
          </p:cNvPr>
          <p:cNvSpPr txBox="1"/>
          <p:nvPr/>
        </p:nvSpPr>
        <p:spPr>
          <a:xfrm>
            <a:off x="6832600" y="3380102"/>
            <a:ext cx="4749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本项目：</a:t>
            </a:r>
            <a:r>
              <a:rPr lang="en-US" altLang="zh-CN" sz="9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2% </a:t>
            </a:r>
            <a:r>
              <a:rPr lang="zh-CN" altLang="en-US" sz="950" b="1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审计容量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F6A486A-7F41-19E3-D9F5-4C4BC3811D0E}"/>
              </a:ext>
            </a:extLst>
          </p:cNvPr>
          <p:cNvSpPr/>
          <p:nvPr/>
        </p:nvSpPr>
        <p:spPr>
          <a:xfrm>
            <a:off x="508000" y="3733800"/>
            <a:ext cx="1016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5A3AEE0-4AB2-77E0-C164-002AD40E7865}"/>
              </a:ext>
            </a:extLst>
          </p:cNvPr>
          <p:cNvSpPr txBox="1"/>
          <p:nvPr/>
        </p:nvSpPr>
        <p:spPr>
          <a:xfrm>
            <a:off x="609600" y="3855008"/>
            <a:ext cx="812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300</a:t>
            </a:r>
            <a:endParaRPr lang="zh-CN" altLang="en-US" sz="10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9D65652-5C2F-619A-BAE2-0DBDD583ED00}"/>
              </a:ext>
            </a:extLst>
          </p:cNvPr>
          <p:cNvSpPr/>
          <p:nvPr/>
        </p:nvSpPr>
        <p:spPr>
          <a:xfrm>
            <a:off x="1524000" y="3733800"/>
            <a:ext cx="1143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3413C33-801B-0B22-F2A6-43F76D0617E0}"/>
              </a:ext>
            </a:extLst>
          </p:cNvPr>
          <p:cNvSpPr txBox="1"/>
          <p:nvPr/>
        </p:nvSpPr>
        <p:spPr>
          <a:xfrm>
            <a:off x="1625600" y="3858855"/>
            <a:ext cx="939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0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259</a:t>
            </a:r>
            <a:endParaRPr lang="zh-CN" altLang="en-US" sz="100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F28F02E-AC7A-6E91-8B7F-2D00443685B1}"/>
              </a:ext>
            </a:extLst>
          </p:cNvPr>
          <p:cNvSpPr/>
          <p:nvPr/>
        </p:nvSpPr>
        <p:spPr>
          <a:xfrm>
            <a:off x="2667000" y="3733800"/>
            <a:ext cx="1397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3DD5A9B-D02F-16CF-A561-4F12265099B6}"/>
              </a:ext>
            </a:extLst>
          </p:cNvPr>
          <p:cNvSpPr txBox="1"/>
          <p:nvPr/>
        </p:nvSpPr>
        <p:spPr>
          <a:xfrm>
            <a:off x="2768600" y="38550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86.3%</a:t>
            </a:r>
            <a:endParaRPr lang="zh-CN" altLang="en-US" sz="1050" b="1">
              <a:solidFill>
                <a:srgbClr val="27AE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5C0548C-D8C0-291C-48DF-A75D5BE6CE27}"/>
              </a:ext>
            </a:extLst>
          </p:cNvPr>
          <p:cNvSpPr/>
          <p:nvPr/>
        </p:nvSpPr>
        <p:spPr>
          <a:xfrm>
            <a:off x="4064000" y="3733800"/>
            <a:ext cx="1397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79AB727-7425-79C4-CDEA-79986E805E99}"/>
              </a:ext>
            </a:extLst>
          </p:cNvPr>
          <p:cNvSpPr txBox="1"/>
          <p:nvPr/>
        </p:nvSpPr>
        <p:spPr>
          <a:xfrm>
            <a:off x="4165600" y="38550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27.1%</a:t>
            </a:r>
            <a:endParaRPr lang="zh-CN" altLang="en-US" sz="105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B2B6664-F8AE-FA93-5082-E4C348F93568}"/>
              </a:ext>
            </a:extLst>
          </p:cNvPr>
          <p:cNvSpPr/>
          <p:nvPr/>
        </p:nvSpPr>
        <p:spPr>
          <a:xfrm>
            <a:off x="5461000" y="3733800"/>
            <a:ext cx="1270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C43FB53-6C8A-DA94-C9FB-98795CDCE147}"/>
              </a:ext>
            </a:extLst>
          </p:cNvPr>
          <p:cNvSpPr txBox="1"/>
          <p:nvPr/>
        </p:nvSpPr>
        <p:spPr>
          <a:xfrm>
            <a:off x="5562600" y="3855008"/>
            <a:ext cx="1066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6.33×</a:t>
            </a:r>
            <a:endParaRPr lang="zh-CN" altLang="en-US" sz="1050" b="1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AAECD21-9180-CD29-AABF-A333F28D2A66}"/>
              </a:ext>
            </a:extLst>
          </p:cNvPr>
          <p:cNvSpPr/>
          <p:nvPr/>
        </p:nvSpPr>
        <p:spPr>
          <a:xfrm>
            <a:off x="6731000" y="3733800"/>
            <a:ext cx="4953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9E29B10-A340-9762-FF04-0FBE05D8DB2E}"/>
              </a:ext>
            </a:extLst>
          </p:cNvPr>
          <p:cNvSpPr txBox="1"/>
          <p:nvPr/>
        </p:nvSpPr>
        <p:spPr>
          <a:xfrm>
            <a:off x="6832600" y="3862702"/>
            <a:ext cx="4749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 </a:t>
            </a:r>
            <a:r>
              <a:rPr lang="en-US" altLang="zh-CN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天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EE25E43-63C8-9EED-6950-EBE6FF43391B}"/>
              </a:ext>
            </a:extLst>
          </p:cNvPr>
          <p:cNvSpPr/>
          <p:nvPr/>
        </p:nvSpPr>
        <p:spPr>
          <a:xfrm>
            <a:off x="508000" y="4216400"/>
            <a:ext cx="1016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33DC616-2006-0648-3A2C-0BD89D5DC9B5}"/>
              </a:ext>
            </a:extLst>
          </p:cNvPr>
          <p:cNvSpPr txBox="1"/>
          <p:nvPr/>
        </p:nvSpPr>
        <p:spPr>
          <a:xfrm>
            <a:off x="609600" y="4337608"/>
            <a:ext cx="812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endParaRPr lang="zh-CN" altLang="en-US" sz="10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926F39A-371C-3780-25B9-F62DDC0E51D5}"/>
              </a:ext>
            </a:extLst>
          </p:cNvPr>
          <p:cNvSpPr/>
          <p:nvPr/>
        </p:nvSpPr>
        <p:spPr>
          <a:xfrm>
            <a:off x="1524000" y="4216400"/>
            <a:ext cx="1143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0418B2A-79A9-15F9-7FB1-0724786E9331}"/>
              </a:ext>
            </a:extLst>
          </p:cNvPr>
          <p:cNvSpPr txBox="1"/>
          <p:nvPr/>
        </p:nvSpPr>
        <p:spPr>
          <a:xfrm>
            <a:off x="1625600" y="4341455"/>
            <a:ext cx="939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0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380</a:t>
            </a:r>
            <a:endParaRPr lang="zh-CN" altLang="en-US" sz="100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C94F5B4-4690-1898-1FED-17A3965276A6}"/>
              </a:ext>
            </a:extLst>
          </p:cNvPr>
          <p:cNvSpPr/>
          <p:nvPr/>
        </p:nvSpPr>
        <p:spPr>
          <a:xfrm>
            <a:off x="2667000" y="4216400"/>
            <a:ext cx="1397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58C5D8D-58C6-4F3F-CCD4-C9687A39C0A7}"/>
              </a:ext>
            </a:extLst>
          </p:cNvPr>
          <p:cNvSpPr txBox="1"/>
          <p:nvPr/>
        </p:nvSpPr>
        <p:spPr>
          <a:xfrm>
            <a:off x="2768600" y="43376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76.0%</a:t>
            </a:r>
            <a:endParaRPr lang="zh-CN" altLang="en-US" sz="1050" b="1">
              <a:solidFill>
                <a:srgbClr val="27AE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C292168-F964-DA85-A7C8-F1AD7A2BA08D}"/>
              </a:ext>
            </a:extLst>
          </p:cNvPr>
          <p:cNvSpPr/>
          <p:nvPr/>
        </p:nvSpPr>
        <p:spPr>
          <a:xfrm>
            <a:off x="4064000" y="4216400"/>
            <a:ext cx="1397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74F7F3E-2B63-533E-C24A-A1CE0303A447}"/>
              </a:ext>
            </a:extLst>
          </p:cNvPr>
          <p:cNvSpPr txBox="1"/>
          <p:nvPr/>
        </p:nvSpPr>
        <p:spPr>
          <a:xfrm>
            <a:off x="4165600" y="43376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39.8%</a:t>
            </a:r>
            <a:endParaRPr lang="zh-CN" altLang="en-US" sz="105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09FD7A6-49A0-CB95-CAB9-23D80DF9578B}"/>
              </a:ext>
            </a:extLst>
          </p:cNvPr>
          <p:cNvSpPr/>
          <p:nvPr/>
        </p:nvSpPr>
        <p:spPr>
          <a:xfrm>
            <a:off x="5461000" y="4216400"/>
            <a:ext cx="1270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1FDC08B-2434-412F-6A0D-6A021869092C}"/>
              </a:ext>
            </a:extLst>
          </p:cNvPr>
          <p:cNvSpPr txBox="1"/>
          <p:nvPr/>
        </p:nvSpPr>
        <p:spPr>
          <a:xfrm>
            <a:off x="5562600" y="4337608"/>
            <a:ext cx="1066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5.57×</a:t>
            </a:r>
            <a:endParaRPr lang="zh-CN" altLang="en-US" sz="1050" b="1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EE1E749-C2D9-5624-205E-7A98CD4B28F5}"/>
              </a:ext>
            </a:extLst>
          </p:cNvPr>
          <p:cNvSpPr/>
          <p:nvPr/>
        </p:nvSpPr>
        <p:spPr>
          <a:xfrm>
            <a:off x="6731000" y="4216400"/>
            <a:ext cx="4953000" cy="482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CA27F7AE-D519-23F3-EFAF-D98E88FDBE8D}"/>
              </a:ext>
            </a:extLst>
          </p:cNvPr>
          <p:cNvSpPr txBox="1"/>
          <p:nvPr/>
        </p:nvSpPr>
        <p:spPr>
          <a:xfrm>
            <a:off x="6832600" y="4345302"/>
            <a:ext cx="4749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扩大核查范围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050B8F2-2EA6-8A90-CCF2-303E37FD076B}"/>
              </a:ext>
            </a:extLst>
          </p:cNvPr>
          <p:cNvSpPr/>
          <p:nvPr/>
        </p:nvSpPr>
        <p:spPr>
          <a:xfrm>
            <a:off x="508000" y="4699000"/>
            <a:ext cx="1016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AEF4DA9-AEE5-6B24-603E-E0C0458A556B}"/>
              </a:ext>
            </a:extLst>
          </p:cNvPr>
          <p:cNvSpPr txBox="1"/>
          <p:nvPr/>
        </p:nvSpPr>
        <p:spPr>
          <a:xfrm>
            <a:off x="609600" y="4820208"/>
            <a:ext cx="812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</a:t>
            </a:r>
            <a:endParaRPr lang="zh-CN" altLang="en-US" sz="10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5214843-9A60-0835-9E1D-44C6451887C0}"/>
              </a:ext>
            </a:extLst>
          </p:cNvPr>
          <p:cNvSpPr/>
          <p:nvPr/>
        </p:nvSpPr>
        <p:spPr>
          <a:xfrm>
            <a:off x="1524000" y="4699000"/>
            <a:ext cx="1143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488861C-2B21-E0D8-1206-D26CB3211047}"/>
              </a:ext>
            </a:extLst>
          </p:cNvPr>
          <p:cNvSpPr txBox="1"/>
          <p:nvPr/>
        </p:nvSpPr>
        <p:spPr>
          <a:xfrm>
            <a:off x="1625600" y="4824055"/>
            <a:ext cx="939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0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578</a:t>
            </a:r>
            <a:endParaRPr lang="zh-CN" altLang="en-US" sz="100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DB8B623-7BCC-569B-06BD-97DE13F47775}"/>
              </a:ext>
            </a:extLst>
          </p:cNvPr>
          <p:cNvSpPr/>
          <p:nvPr/>
        </p:nvSpPr>
        <p:spPr>
          <a:xfrm>
            <a:off x="2667000" y="4699000"/>
            <a:ext cx="1397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0FF9B24-578C-8EE2-C25E-BDB28BE6020B}"/>
              </a:ext>
            </a:extLst>
          </p:cNvPr>
          <p:cNvSpPr txBox="1"/>
          <p:nvPr/>
        </p:nvSpPr>
        <p:spPr>
          <a:xfrm>
            <a:off x="2768600" y="48202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57.8%</a:t>
            </a:r>
            <a:endParaRPr lang="zh-CN" altLang="en-US" sz="1050" b="1">
              <a:solidFill>
                <a:srgbClr val="27AE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A190A04-EFA0-9AA1-28E7-F642D99B2086}"/>
              </a:ext>
            </a:extLst>
          </p:cNvPr>
          <p:cNvSpPr/>
          <p:nvPr/>
        </p:nvSpPr>
        <p:spPr>
          <a:xfrm>
            <a:off x="4064000" y="4699000"/>
            <a:ext cx="1397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018F505-69D0-BE3B-BBA4-1336F2D1E6B6}"/>
              </a:ext>
            </a:extLst>
          </p:cNvPr>
          <p:cNvSpPr txBox="1"/>
          <p:nvPr/>
        </p:nvSpPr>
        <p:spPr>
          <a:xfrm>
            <a:off x="4165600" y="4820208"/>
            <a:ext cx="1193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60.5%</a:t>
            </a:r>
            <a:endParaRPr lang="zh-CN" altLang="en-US" sz="1050">
              <a:solidFill>
                <a:srgbClr val="34495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6894DFD-0E76-6396-3911-D5DCF026EB43}"/>
              </a:ext>
            </a:extLst>
          </p:cNvPr>
          <p:cNvSpPr/>
          <p:nvPr/>
        </p:nvSpPr>
        <p:spPr>
          <a:xfrm>
            <a:off x="5461000" y="4699000"/>
            <a:ext cx="1270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77B9AD2-0325-7736-272B-DA9184ADF863}"/>
              </a:ext>
            </a:extLst>
          </p:cNvPr>
          <p:cNvSpPr txBox="1"/>
          <p:nvPr/>
        </p:nvSpPr>
        <p:spPr>
          <a:xfrm>
            <a:off x="5562600" y="4820208"/>
            <a:ext cx="1066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4.24×</a:t>
            </a:r>
            <a:endParaRPr lang="zh-CN" altLang="en-US" sz="1050" b="1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84A8559-C1BB-C0FE-5BE5-D1826E0CB60E}"/>
              </a:ext>
            </a:extLst>
          </p:cNvPr>
          <p:cNvSpPr/>
          <p:nvPr/>
        </p:nvSpPr>
        <p:spPr>
          <a:xfrm>
            <a:off x="6731000" y="4699000"/>
            <a:ext cx="4953000" cy="482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178E6A0-108E-00E6-0670-32340210D8FA}"/>
              </a:ext>
            </a:extLst>
          </p:cNvPr>
          <p:cNvSpPr txBox="1"/>
          <p:nvPr/>
        </p:nvSpPr>
        <p:spPr>
          <a:xfrm>
            <a:off x="6832600" y="4827902"/>
            <a:ext cx="47498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接近“全量初筛”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DB30C56-1EB9-28A0-DE78-0F8E42728166}"/>
              </a:ext>
            </a:extLst>
          </p:cNvPr>
          <p:cNvSpPr/>
          <p:nvPr/>
        </p:nvSpPr>
        <p:spPr>
          <a:xfrm>
            <a:off x="508000" y="5461000"/>
            <a:ext cx="11176000" cy="406400"/>
          </a:xfrm>
          <a:prstGeom prst="roundRect">
            <a:avLst/>
          </a:prstGeom>
          <a:solidFill>
            <a:srgbClr val="EBF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E134CAB3-5EDE-5EB3-91E6-B56391FD8F62}"/>
              </a:ext>
            </a:extLst>
          </p:cNvPr>
          <p:cNvSpPr txBox="1"/>
          <p:nvPr/>
        </p:nvSpPr>
        <p:spPr>
          <a:xfrm>
            <a:off x="736600" y="5537200"/>
            <a:ext cx="10718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精确率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K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；召回率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955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lift = 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精确率 </a:t>
            </a:r>
            <a:r>
              <a:rPr lang="en-US" altLang="zh-CN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13.64%</a:t>
            </a:r>
            <a:r>
              <a:rPr lang="zh-CN" altLang="en-US" sz="105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5B510E5-512D-E645-11B2-639E8C4414B0}"/>
              </a:ext>
            </a:extLst>
          </p:cNvPr>
          <p:cNvSpPr txBox="1"/>
          <p:nvPr/>
        </p:nvSpPr>
        <p:spPr>
          <a:xfrm>
            <a:off x="711200" y="6019800"/>
            <a:ext cx="10922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不是模型参数，是审计人力参数；分数排序不变，改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</a:t>
            </a: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即可。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4A808ED-F673-A666-DB20-52EEDF0A7A4B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1DB0C21-6A35-B6F8-408F-4A19EB6796D4}"/>
              </a:ext>
            </a:extLst>
          </p:cNvPr>
          <p:cNvSpPr txBox="1"/>
          <p:nvPr/>
        </p:nvSpPr>
        <p:spPr>
          <a:xfrm>
            <a:off x="508000" y="6642100"/>
            <a:ext cx="787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备用页（不计入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页主线）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B651D973-6CF1-E5F2-FF05-01E0369FB7BD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A-2 / 3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129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27D745-EFE8-D374-C8E4-84C8FC686688}"/>
              </a:ext>
            </a:extLst>
          </p:cNvPr>
          <p:cNvSpPr/>
          <p:nvPr/>
        </p:nvSpPr>
        <p:spPr>
          <a:xfrm>
            <a:off x="508000" y="381000"/>
            <a:ext cx="76200" cy="4318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8DBB2E-E422-41A5-F6D4-F30BB7078564}"/>
              </a:ext>
            </a:extLst>
          </p:cNvPr>
          <p:cNvSpPr txBox="1"/>
          <p:nvPr/>
        </p:nvSpPr>
        <p:spPr>
          <a:xfrm>
            <a:off x="711200" y="304800"/>
            <a:ext cx="109220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A-3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（备用）：一条案例怎么读</a:t>
            </a:r>
            <a:r>
              <a:rPr lang="en-US" altLang="zh-CN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23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从原始字段到模型分数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04E64E-136E-F384-C991-33A902F9F92E}"/>
              </a:ext>
            </a:extLst>
          </p:cNvPr>
          <p:cNvSpPr txBox="1"/>
          <p:nvPr/>
        </p:nvSpPr>
        <p:spPr>
          <a:xfrm>
            <a:off x="711200" y="914400"/>
            <a:ext cx="10922000" cy="1968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模型排名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7,000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的重复发票案例；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Benford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未标记，模型 </a:t>
            </a:r>
            <a:r>
              <a:rPr lang="en-US" altLang="zh-CN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Top-140 </a:t>
            </a:r>
            <a:r>
              <a:rPr lang="zh-CN" altLang="en-US" sz="12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命中。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CF92151-6D74-0690-8856-2D9848ACFA3F}"/>
              </a:ext>
            </a:extLst>
          </p:cNvPr>
          <p:cNvSpPr/>
          <p:nvPr/>
        </p:nvSpPr>
        <p:spPr>
          <a:xfrm>
            <a:off x="508000" y="1727200"/>
            <a:ext cx="5334000" cy="381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B36B32-A2EC-E269-5327-C2E4C3EDE618}"/>
              </a:ext>
            </a:extLst>
          </p:cNvPr>
          <p:cNvSpPr txBox="1"/>
          <p:nvPr/>
        </p:nvSpPr>
        <p:spPr>
          <a:xfrm>
            <a:off x="736600" y="1879600"/>
            <a:ext cx="4826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原始字段（节选）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16771A-9BEF-FED3-6CBC-1C5A7FD1704D}"/>
              </a:ext>
            </a:extLst>
          </p:cNvPr>
          <p:cNvSpPr/>
          <p:nvPr/>
        </p:nvSpPr>
        <p:spPr>
          <a:xfrm>
            <a:off x="711200" y="2286000"/>
            <a:ext cx="2032000" cy="355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258ECE-A985-C807-1BD7-7D539A3F6FEB}"/>
              </a:ext>
            </a:extLst>
          </p:cNvPr>
          <p:cNvSpPr txBox="1"/>
          <p:nvPr/>
        </p:nvSpPr>
        <p:spPr>
          <a:xfrm>
            <a:off x="838200" y="2402202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 </a:t>
            </a:r>
            <a:r>
              <a:rPr lang="en-US" altLang="zh-CN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endParaRPr lang="zh-CN" altLang="en-US" sz="9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92FBD8-6CB7-03A6-EC00-3190D7E28D6C}"/>
              </a:ext>
            </a:extLst>
          </p:cNvPr>
          <p:cNvSpPr/>
          <p:nvPr/>
        </p:nvSpPr>
        <p:spPr>
          <a:xfrm>
            <a:off x="2743200" y="2286000"/>
            <a:ext cx="2895600" cy="355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F47BCE-656E-1A60-4A82-879743172F42}"/>
              </a:ext>
            </a:extLst>
          </p:cNvPr>
          <p:cNvSpPr txBox="1"/>
          <p:nvPr/>
        </p:nvSpPr>
        <p:spPr>
          <a:xfrm>
            <a:off x="2870200" y="2402202"/>
            <a:ext cx="264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CN-TXN-0005220</a:t>
            </a:r>
            <a:endParaRPr lang="zh-CN" altLang="en-US" sz="950">
              <a:solidFill>
                <a:srgbClr val="1B263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1B72E9-BB8D-2671-F476-0599305F4C6C}"/>
              </a:ext>
            </a:extLst>
          </p:cNvPr>
          <p:cNvSpPr/>
          <p:nvPr/>
        </p:nvSpPr>
        <p:spPr>
          <a:xfrm>
            <a:off x="711200" y="2641600"/>
            <a:ext cx="2032000" cy="3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4460F0-8334-1D3E-5A65-7C31A31A5E36}"/>
              </a:ext>
            </a:extLst>
          </p:cNvPr>
          <p:cNvSpPr txBox="1"/>
          <p:nvPr/>
        </p:nvSpPr>
        <p:spPr>
          <a:xfrm>
            <a:off x="838200" y="2757802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交易金额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CB8FE6-5BB5-5E83-25A3-DC0A4C0BCE76}"/>
              </a:ext>
            </a:extLst>
          </p:cNvPr>
          <p:cNvSpPr/>
          <p:nvPr/>
        </p:nvSpPr>
        <p:spPr>
          <a:xfrm>
            <a:off x="2743200" y="2641600"/>
            <a:ext cx="2895600" cy="3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B3D5D9-7B3A-9C86-1678-D6F7858CAAC8}"/>
              </a:ext>
            </a:extLst>
          </p:cNvPr>
          <p:cNvSpPr txBox="1"/>
          <p:nvPr/>
        </p:nvSpPr>
        <p:spPr>
          <a:xfrm>
            <a:off x="2870200" y="2757802"/>
            <a:ext cx="264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¥14,774.56</a:t>
            </a:r>
            <a:endParaRPr lang="zh-CN" altLang="en-US" sz="950">
              <a:solidFill>
                <a:srgbClr val="1B263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D373B8-8F7E-4370-3733-C2EA93CB2F33}"/>
              </a:ext>
            </a:extLst>
          </p:cNvPr>
          <p:cNvSpPr/>
          <p:nvPr/>
        </p:nvSpPr>
        <p:spPr>
          <a:xfrm>
            <a:off x="711200" y="2997200"/>
            <a:ext cx="2032000" cy="355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6696081-10CF-4F1B-EFA8-154C10786396}"/>
              </a:ext>
            </a:extLst>
          </p:cNvPr>
          <p:cNvSpPr txBox="1"/>
          <p:nvPr/>
        </p:nvSpPr>
        <p:spPr>
          <a:xfrm>
            <a:off x="838200" y="3113402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历史均值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A469F7-93E9-17DA-1233-BA102D43BEFF}"/>
              </a:ext>
            </a:extLst>
          </p:cNvPr>
          <p:cNvSpPr/>
          <p:nvPr/>
        </p:nvSpPr>
        <p:spPr>
          <a:xfrm>
            <a:off x="2743200" y="2997200"/>
            <a:ext cx="2895600" cy="355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38E4F4-F4EA-0175-0E8E-A557FD6AC455}"/>
              </a:ext>
            </a:extLst>
          </p:cNvPr>
          <p:cNvSpPr txBox="1"/>
          <p:nvPr/>
        </p:nvSpPr>
        <p:spPr>
          <a:xfrm>
            <a:off x="2870200" y="3113402"/>
            <a:ext cx="264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¥25,215.21</a:t>
            </a:r>
            <a:endParaRPr lang="zh-CN" altLang="en-US" sz="950">
              <a:solidFill>
                <a:srgbClr val="1B263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CD244E-10D9-B964-5137-F8853F18C7BD}"/>
              </a:ext>
            </a:extLst>
          </p:cNvPr>
          <p:cNvSpPr/>
          <p:nvPr/>
        </p:nvSpPr>
        <p:spPr>
          <a:xfrm>
            <a:off x="711200" y="3352800"/>
            <a:ext cx="2032000" cy="3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27548D-C453-0E62-47FC-CE53600BF4E5}"/>
              </a:ext>
            </a:extLst>
          </p:cNvPr>
          <p:cNvSpPr txBox="1"/>
          <p:nvPr/>
        </p:nvSpPr>
        <p:spPr>
          <a:xfrm>
            <a:off x="838200" y="3469002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审批延迟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C5007A-DD01-0289-5153-1819D86F3BB2}"/>
              </a:ext>
            </a:extLst>
          </p:cNvPr>
          <p:cNvSpPr/>
          <p:nvPr/>
        </p:nvSpPr>
        <p:spPr>
          <a:xfrm>
            <a:off x="2743200" y="3352800"/>
            <a:ext cx="2895600" cy="3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2F413C5-55D3-5645-8E14-544FCE2A3983}"/>
              </a:ext>
            </a:extLst>
          </p:cNvPr>
          <p:cNvSpPr txBox="1"/>
          <p:nvPr/>
        </p:nvSpPr>
        <p:spPr>
          <a:xfrm>
            <a:off x="2870200" y="3469002"/>
            <a:ext cx="264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338.55 min</a:t>
            </a:r>
            <a:endParaRPr lang="zh-CN" altLang="en-US" sz="9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F5DD5F-0F42-5843-92E4-09F57978116E}"/>
              </a:ext>
            </a:extLst>
          </p:cNvPr>
          <p:cNvSpPr/>
          <p:nvPr/>
        </p:nvSpPr>
        <p:spPr>
          <a:xfrm>
            <a:off x="711200" y="3708400"/>
            <a:ext cx="2032000" cy="355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CB28CB-1555-85D6-C9C9-A6CABB442616}"/>
              </a:ext>
            </a:extLst>
          </p:cNvPr>
          <p:cNvSpPr txBox="1"/>
          <p:nvPr/>
        </p:nvSpPr>
        <p:spPr>
          <a:xfrm>
            <a:off x="838200" y="3824602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发票匹配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034110-C50E-E8D5-7862-9CBE110CDFCB}"/>
              </a:ext>
            </a:extLst>
          </p:cNvPr>
          <p:cNvSpPr/>
          <p:nvPr/>
        </p:nvSpPr>
        <p:spPr>
          <a:xfrm>
            <a:off x="2743200" y="3708400"/>
            <a:ext cx="2895600" cy="355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96D8F2A-D4D0-D480-295E-B96B84928121}"/>
              </a:ext>
            </a:extLst>
          </p:cNvPr>
          <p:cNvSpPr txBox="1"/>
          <p:nvPr/>
        </p:nvSpPr>
        <p:spPr>
          <a:xfrm>
            <a:off x="2870200" y="3824602"/>
            <a:ext cx="264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0.4411</a:t>
            </a:r>
            <a:endParaRPr lang="zh-CN" altLang="en-US" sz="9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8B93221-63B3-1A41-AF55-C87CD15635A4}"/>
              </a:ext>
            </a:extLst>
          </p:cNvPr>
          <p:cNvSpPr/>
          <p:nvPr/>
        </p:nvSpPr>
        <p:spPr>
          <a:xfrm>
            <a:off x="711200" y="4064000"/>
            <a:ext cx="2032000" cy="3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FC957CA-5B86-E053-6980-4D6F2DF85336}"/>
              </a:ext>
            </a:extLst>
          </p:cNvPr>
          <p:cNvSpPr txBox="1"/>
          <p:nvPr/>
        </p:nvSpPr>
        <p:spPr>
          <a:xfrm>
            <a:off x="838200" y="4180202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规则违反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D3EDBA2-EA6F-2CAD-DF63-AFBDA2DF5FF7}"/>
              </a:ext>
            </a:extLst>
          </p:cNvPr>
          <p:cNvSpPr/>
          <p:nvPr/>
        </p:nvSpPr>
        <p:spPr>
          <a:xfrm>
            <a:off x="2743200" y="4064000"/>
            <a:ext cx="2895600" cy="3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6C7491-76EF-63B9-6914-7FC5FD91E252}"/>
              </a:ext>
            </a:extLst>
          </p:cNvPr>
          <p:cNvSpPr txBox="1"/>
          <p:nvPr/>
        </p:nvSpPr>
        <p:spPr>
          <a:xfrm>
            <a:off x="2870200" y="4180202"/>
            <a:ext cx="264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9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7659F17-301C-3BD1-CA4D-745E79F260AB}"/>
              </a:ext>
            </a:extLst>
          </p:cNvPr>
          <p:cNvSpPr/>
          <p:nvPr/>
        </p:nvSpPr>
        <p:spPr>
          <a:xfrm>
            <a:off x="711200" y="4419600"/>
            <a:ext cx="2032000" cy="355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5ECEDC2-7001-7FBF-6EB2-886BD9343F9D}"/>
              </a:ext>
            </a:extLst>
          </p:cNvPr>
          <p:cNvSpPr txBox="1"/>
          <p:nvPr/>
        </p:nvSpPr>
        <p:spPr>
          <a:xfrm>
            <a:off x="838200" y="4535802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关系异常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D7B113-3FCD-6B00-1B30-7A5FBB764F74}"/>
              </a:ext>
            </a:extLst>
          </p:cNvPr>
          <p:cNvSpPr/>
          <p:nvPr/>
        </p:nvSpPr>
        <p:spPr>
          <a:xfrm>
            <a:off x="2743200" y="4419600"/>
            <a:ext cx="2895600" cy="355600"/>
          </a:xfrm>
          <a:prstGeom prst="rect">
            <a:avLst/>
          </a:prstGeom>
          <a:solidFill>
            <a:srgbClr val="F8F9F9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5F48268-088B-50B6-69BA-E02E09B5FE36}"/>
              </a:ext>
            </a:extLst>
          </p:cNvPr>
          <p:cNvSpPr txBox="1"/>
          <p:nvPr/>
        </p:nvSpPr>
        <p:spPr>
          <a:xfrm>
            <a:off x="2870200" y="4535802"/>
            <a:ext cx="264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0.4931</a:t>
            </a:r>
            <a:endParaRPr lang="zh-CN" altLang="en-US" sz="95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892196-5FE5-6F0C-B5FA-1AAD40C69AF5}"/>
              </a:ext>
            </a:extLst>
          </p:cNvPr>
          <p:cNvSpPr/>
          <p:nvPr/>
        </p:nvSpPr>
        <p:spPr>
          <a:xfrm>
            <a:off x="711200" y="4775200"/>
            <a:ext cx="2032000" cy="3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41FAE14-A068-9738-DB64-61A117C7ADD5}"/>
              </a:ext>
            </a:extLst>
          </p:cNvPr>
          <p:cNvSpPr txBox="1"/>
          <p:nvPr/>
        </p:nvSpPr>
        <p:spPr>
          <a:xfrm>
            <a:off x="838200" y="4891402"/>
            <a:ext cx="17780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模型分数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A3816E1-F1B6-184E-BFB6-886444950DA4}"/>
              </a:ext>
            </a:extLst>
          </p:cNvPr>
          <p:cNvSpPr/>
          <p:nvPr/>
        </p:nvSpPr>
        <p:spPr>
          <a:xfrm>
            <a:off x="2743200" y="4775200"/>
            <a:ext cx="2895600" cy="355600"/>
          </a:xfrm>
          <a:prstGeom prst="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5622B4C-7A8F-C9A7-9359-76C129D6A366}"/>
              </a:ext>
            </a:extLst>
          </p:cNvPr>
          <p:cNvSpPr txBox="1"/>
          <p:nvPr/>
        </p:nvSpPr>
        <p:spPr>
          <a:xfrm>
            <a:off x="2870200" y="4891402"/>
            <a:ext cx="26416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950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0.5099</a:t>
            </a:r>
            <a:r>
              <a:rPr lang="zh-CN" altLang="en-US" sz="950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（排名 </a:t>
            </a:r>
            <a:r>
              <a:rPr lang="en-US" altLang="zh-CN" sz="950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7,000</a:t>
            </a:r>
            <a:r>
              <a:rPr lang="zh-CN" altLang="en-US" sz="950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3324B17-3800-B77C-AB38-B4DD5C98D798}"/>
              </a:ext>
            </a:extLst>
          </p:cNvPr>
          <p:cNvSpPr txBox="1"/>
          <p:nvPr/>
        </p:nvSpPr>
        <p:spPr>
          <a:xfrm>
            <a:off x="6096000" y="1879600"/>
            <a:ext cx="558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为什么模型把它排在第 </a:t>
            </a:r>
            <a:r>
              <a:rPr lang="en-US" altLang="zh-CN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2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CD2EE37-DD51-2039-8EA2-E93506006ABA}"/>
              </a:ext>
            </a:extLst>
          </p:cNvPr>
          <p:cNvSpPr/>
          <p:nvPr/>
        </p:nvSpPr>
        <p:spPr>
          <a:xfrm>
            <a:off x="6096000" y="2260600"/>
            <a:ext cx="2667000" cy="1346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3F42B5A-84C8-57EE-7F81-C3DC18DB8BCB}"/>
              </a:ext>
            </a:extLst>
          </p:cNvPr>
          <p:cNvSpPr/>
          <p:nvPr/>
        </p:nvSpPr>
        <p:spPr>
          <a:xfrm>
            <a:off x="6096000" y="2260600"/>
            <a:ext cx="2667000" cy="63500"/>
          </a:xfrm>
          <a:prstGeom prst="rect">
            <a:avLst/>
          </a:prstGeom>
          <a:solidFill>
            <a:srgbClr val="2E86C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6678F9A-5641-8516-CE19-63EB2E4442F2}"/>
              </a:ext>
            </a:extLst>
          </p:cNvPr>
          <p:cNvSpPr txBox="1"/>
          <p:nvPr/>
        </p:nvSpPr>
        <p:spPr>
          <a:xfrm>
            <a:off x="6273800" y="2413000"/>
            <a:ext cx="2311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000" b="1">
                <a:solidFill>
                  <a:srgbClr val="2E86C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338.55</a:t>
            </a:r>
            <a:endParaRPr lang="zh-CN" altLang="en-US" sz="2000" b="1">
              <a:solidFill>
                <a:srgbClr val="2E86C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F56AC90-3763-C228-4303-26EBE04ADA7F}"/>
              </a:ext>
            </a:extLst>
          </p:cNvPr>
          <p:cNvSpPr txBox="1"/>
          <p:nvPr/>
        </p:nvSpPr>
        <p:spPr>
          <a:xfrm>
            <a:off x="6273800" y="2819400"/>
            <a:ext cx="2311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审批延迟 </a:t>
            </a:r>
            <a:r>
              <a:rPr lang="en-US" altLang="zh-CN" sz="10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</a:t>
            </a:r>
            <a:endParaRPr lang="zh-CN" altLang="en-US" sz="1000" b="1">
              <a:solidFill>
                <a:srgbClr val="1B263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E79A2D5-C062-EA09-17EA-F2FB6426FDF5}"/>
              </a:ext>
            </a:extLst>
          </p:cNvPr>
          <p:cNvSpPr txBox="1"/>
          <p:nvPr/>
        </p:nvSpPr>
        <p:spPr>
          <a:xfrm>
            <a:off x="6273800" y="3098800"/>
            <a:ext cx="2311400" cy="1277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中位数 </a:t>
            </a:r>
            <a:r>
              <a:rPr lang="en-US" altLang="zh-CN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59 min · 99.8 </a:t>
            </a:r>
            <a:r>
              <a:rPr lang="zh-CN" altLang="en-US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分位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1948DD32-0F87-DAA8-9879-03894F5DB9E9}"/>
              </a:ext>
            </a:extLst>
          </p:cNvPr>
          <p:cNvSpPr/>
          <p:nvPr/>
        </p:nvSpPr>
        <p:spPr>
          <a:xfrm>
            <a:off x="8890000" y="2260600"/>
            <a:ext cx="2667000" cy="1346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B6429A5-9717-377A-4A6E-D02A2BCA7A43}"/>
              </a:ext>
            </a:extLst>
          </p:cNvPr>
          <p:cNvSpPr/>
          <p:nvPr/>
        </p:nvSpPr>
        <p:spPr>
          <a:xfrm>
            <a:off x="8890000" y="2260600"/>
            <a:ext cx="2667000" cy="635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B229CD9-425D-DC25-60FD-D9BC245A68BE}"/>
              </a:ext>
            </a:extLst>
          </p:cNvPr>
          <p:cNvSpPr txBox="1"/>
          <p:nvPr/>
        </p:nvSpPr>
        <p:spPr>
          <a:xfrm>
            <a:off x="9067800" y="2413000"/>
            <a:ext cx="2311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000" b="1">
                <a:solidFill>
                  <a:srgbClr val="E67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0.4411</a:t>
            </a:r>
            <a:endParaRPr lang="zh-CN" altLang="en-US" sz="2000" b="1">
              <a:solidFill>
                <a:srgbClr val="E67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317D7DE-E892-F166-007C-B8FA6590F9F6}"/>
              </a:ext>
            </a:extLst>
          </p:cNvPr>
          <p:cNvSpPr txBox="1"/>
          <p:nvPr/>
        </p:nvSpPr>
        <p:spPr>
          <a:xfrm>
            <a:off x="9067800" y="2819400"/>
            <a:ext cx="2311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发票匹配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D7E7940-7D1E-4BD9-DB6F-F7C3D632CF59}"/>
              </a:ext>
            </a:extLst>
          </p:cNvPr>
          <p:cNvSpPr txBox="1"/>
          <p:nvPr/>
        </p:nvSpPr>
        <p:spPr>
          <a:xfrm>
            <a:off x="9067800" y="3098800"/>
            <a:ext cx="2311400" cy="1277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中位数 </a:t>
            </a:r>
            <a:r>
              <a:rPr lang="en-US" altLang="zh-CN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0.915 · </a:t>
            </a:r>
            <a:r>
              <a:rPr lang="zh-CN" altLang="en-US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最低 </a:t>
            </a:r>
            <a:r>
              <a:rPr lang="en-US" altLang="zh-CN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1.1%</a:t>
            </a:r>
            <a:endParaRPr lang="zh-CN" altLang="en-US" sz="83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BE18CE7B-22DA-F828-46BF-E15C42DAA820}"/>
              </a:ext>
            </a:extLst>
          </p:cNvPr>
          <p:cNvSpPr/>
          <p:nvPr/>
        </p:nvSpPr>
        <p:spPr>
          <a:xfrm>
            <a:off x="6096000" y="3759200"/>
            <a:ext cx="2667000" cy="1346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4F9AC2E-F98C-BE3B-8C2A-7F597B0F16AC}"/>
              </a:ext>
            </a:extLst>
          </p:cNvPr>
          <p:cNvSpPr/>
          <p:nvPr/>
        </p:nvSpPr>
        <p:spPr>
          <a:xfrm>
            <a:off x="6096000" y="3759200"/>
            <a:ext cx="2667000" cy="63500"/>
          </a:xfrm>
          <a:prstGeom prst="rect">
            <a:avLst/>
          </a:prstGeom>
          <a:solidFill>
            <a:srgbClr val="27AE6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E905FEA-2F87-8584-34D3-DF07C495288E}"/>
              </a:ext>
            </a:extLst>
          </p:cNvPr>
          <p:cNvSpPr txBox="1"/>
          <p:nvPr/>
        </p:nvSpPr>
        <p:spPr>
          <a:xfrm>
            <a:off x="6273800" y="3911600"/>
            <a:ext cx="2311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00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2000" b="1">
                <a:solidFill>
                  <a:srgbClr val="27AE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68287F8-843C-90A9-3E08-162A27DF656E}"/>
              </a:ext>
            </a:extLst>
          </p:cNvPr>
          <p:cNvSpPr txBox="1"/>
          <p:nvPr/>
        </p:nvSpPr>
        <p:spPr>
          <a:xfrm>
            <a:off x="6273800" y="4318000"/>
            <a:ext cx="2311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规则违反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3285079-1729-ADE8-8B49-4EE494F3D3DA}"/>
              </a:ext>
            </a:extLst>
          </p:cNvPr>
          <p:cNvSpPr txBox="1"/>
          <p:nvPr/>
        </p:nvSpPr>
        <p:spPr>
          <a:xfrm>
            <a:off x="6273800" y="4597400"/>
            <a:ext cx="2311400" cy="1277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中位数 </a:t>
            </a:r>
            <a:r>
              <a:rPr lang="en-US" altLang="zh-CN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061780AE-851D-3C95-8474-F2AB22BDB70C}"/>
              </a:ext>
            </a:extLst>
          </p:cNvPr>
          <p:cNvSpPr/>
          <p:nvPr/>
        </p:nvSpPr>
        <p:spPr>
          <a:xfrm>
            <a:off x="8890000" y="3759200"/>
            <a:ext cx="2667000" cy="1346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D8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B24A7A9-12A2-95A1-10CD-15F79D81079C}"/>
              </a:ext>
            </a:extLst>
          </p:cNvPr>
          <p:cNvSpPr/>
          <p:nvPr/>
        </p:nvSpPr>
        <p:spPr>
          <a:xfrm>
            <a:off x="8890000" y="3759200"/>
            <a:ext cx="2667000" cy="635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777E37E-A451-96FF-7AAD-48A5CA439C01}"/>
              </a:ext>
            </a:extLst>
          </p:cNvPr>
          <p:cNvSpPr txBox="1"/>
          <p:nvPr/>
        </p:nvSpPr>
        <p:spPr>
          <a:xfrm>
            <a:off x="9067800" y="3911600"/>
            <a:ext cx="2311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000" b="1">
                <a:solidFill>
                  <a:srgbClr val="1F4E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0.4931</a:t>
            </a:r>
            <a:endParaRPr lang="zh-CN" altLang="en-US" sz="2000" b="1">
              <a:solidFill>
                <a:srgbClr val="1F4E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9930B75-D5DC-7C06-875F-284C2BBAF059}"/>
              </a:ext>
            </a:extLst>
          </p:cNvPr>
          <p:cNvSpPr txBox="1"/>
          <p:nvPr/>
        </p:nvSpPr>
        <p:spPr>
          <a:xfrm>
            <a:off x="9067800" y="4318000"/>
            <a:ext cx="2311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00" b="1">
                <a:solidFill>
                  <a:srgbClr val="1B263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关系异常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FDD8715-9174-560D-0AA0-CEC541C5372D}"/>
              </a:ext>
            </a:extLst>
          </p:cNvPr>
          <p:cNvSpPr txBox="1"/>
          <p:nvPr/>
        </p:nvSpPr>
        <p:spPr>
          <a:xfrm>
            <a:off x="9067800" y="4597400"/>
            <a:ext cx="2311400" cy="1277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中位数 </a:t>
            </a:r>
            <a:r>
              <a:rPr lang="en-US" altLang="zh-CN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0.269 · 99.6 </a:t>
            </a:r>
            <a:r>
              <a:rPr lang="zh-CN" altLang="en-US" sz="83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分位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CF4FA68-AE79-3061-7B88-A4B5753DC78A}"/>
              </a:ext>
            </a:extLst>
          </p:cNvPr>
          <p:cNvSpPr txBox="1"/>
          <p:nvPr/>
        </p:nvSpPr>
        <p:spPr>
          <a:xfrm>
            <a:off x="711200" y="5689600"/>
            <a:ext cx="10795000" cy="1508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金额只有 </a:t>
            </a: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1.48 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万，低于历史均值 </a:t>
            </a:r>
            <a:r>
              <a:rPr lang="en-US" altLang="zh-CN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2.52 </a:t>
            </a:r>
            <a:r>
              <a:rPr lang="zh-CN" altLang="en-US" sz="980">
                <a:solidFill>
                  <a:srgbClr val="3449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万；模型不是单看金额，而是看审批、发票、规则和关系网络的组合。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6FEAE420-FAAB-876A-EF7A-48EFFDEC8D14}"/>
              </a:ext>
            </a:extLst>
          </p:cNvPr>
          <p:cNvSpPr/>
          <p:nvPr/>
        </p:nvSpPr>
        <p:spPr>
          <a:xfrm>
            <a:off x="508000" y="6019800"/>
            <a:ext cx="11176000" cy="381000"/>
          </a:xfrm>
          <a:prstGeom prst="roundRect">
            <a:avLst/>
          </a:prstGeom>
          <a:solidFill>
            <a:srgbClr val="FDEB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FD1A3A6-A8C7-81DC-6F48-B699FAF58565}"/>
              </a:ext>
            </a:extLst>
          </p:cNvPr>
          <p:cNvSpPr txBox="1"/>
          <p:nvPr/>
        </p:nvSpPr>
        <p:spPr>
          <a:xfrm>
            <a:off x="736600" y="6096000"/>
            <a:ext cx="10718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050" b="1">
                <a:solidFill>
                  <a:srgbClr val="93511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人工核查动作：调发票号、合同、审批链，确认是否重复报销。案例是线索，不是定罪。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ED0733E-17A1-58E6-9C3F-ED71D6749556}"/>
              </a:ext>
            </a:extLst>
          </p:cNvPr>
          <p:cNvSpPr/>
          <p:nvPr/>
        </p:nvSpPr>
        <p:spPr>
          <a:xfrm>
            <a:off x="508000" y="6578600"/>
            <a:ext cx="11176000" cy="12700"/>
          </a:xfrm>
          <a:prstGeom prst="rect">
            <a:avLst/>
          </a:prstGeom>
          <a:solidFill>
            <a:srgbClr val="D5D8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DFDC872-1EEF-BA78-7BA0-7DC6F0A7BF0C}"/>
              </a:ext>
            </a:extLst>
          </p:cNvPr>
          <p:cNvSpPr txBox="1"/>
          <p:nvPr/>
        </p:nvSpPr>
        <p:spPr>
          <a:xfrm>
            <a:off x="508000" y="6642100"/>
            <a:ext cx="7874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智慧审计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机器学习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期中实践 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附录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备用页（不计入 </a:t>
            </a: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页主线）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36996FF-9A35-F1E2-FD69-58A0C76F2506}"/>
              </a:ext>
            </a:extLst>
          </p:cNvPr>
          <p:cNvSpPr txBox="1"/>
          <p:nvPr/>
        </p:nvSpPr>
        <p:spPr>
          <a:xfrm>
            <a:off x="10668000" y="6642100"/>
            <a:ext cx="10160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lang="en-US" altLang="zh-CN" sz="850">
                <a:solidFill>
                  <a:srgbClr val="7F8C8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A-3 / 3</a:t>
            </a:r>
            <a:endParaRPr lang="zh-CN" altLang="en-US" sz="850">
              <a:solidFill>
                <a:srgbClr val="7F8C8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5211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1779</Words>
  <Application>Microsoft Office PowerPoint</Application>
  <PresentationFormat>自定义</PresentationFormat>
  <Paragraphs>212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 LI</dc:creator>
  <cp:lastModifiedBy>Tao LI</cp:lastModifiedBy>
  <cp:revision>1</cp:revision>
  <dcterms:created xsi:type="dcterms:W3CDTF">2026-10-19T05:23:18Z</dcterms:created>
  <dcterms:modified xsi:type="dcterms:W3CDTF">2026-10-19T05:23:18Z</dcterms:modified>
</cp:coreProperties>
</file>