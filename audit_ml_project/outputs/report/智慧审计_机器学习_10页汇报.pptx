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44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8BB118-F7D0-1A12-774F-68E4B41F66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B3E8C4A-EB16-8A8E-A894-A9829A1D90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D1D4A17-13FC-93F2-32F0-3EEAED0E2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D038B-8963-4682-9B6A-77DD6731484F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C72B615-7554-B2EA-A7E9-C90357C9B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E48092-04A2-58F8-2778-78CA2829A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84EAB-20A2-4BDB-8C23-CD8580ABFC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8513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2D1361-7804-EBF2-3631-34084FA9A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83F240B-5ABB-6D3F-4FC0-A278571AC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1B4A6B-67CC-56EF-4013-D646EB5ED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D038B-8963-4682-9B6A-77DD6731484F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741BCB1-CA6B-A455-19BD-DCFA2B19E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F32EA6-9E9C-94E5-4C20-D9C342563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84EAB-20A2-4BDB-8C23-CD8580ABFC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25975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7C5B5A-4F9A-583A-A851-49311004B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347FC1F-CFDE-6BAC-5A37-23621C2866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738FD1F-1E3F-DEB1-0F71-56D874AC9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D038B-8963-4682-9B6A-77DD6731484F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6484BD-5AB9-64FF-E9ED-C1E41F190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3E62F6-C9F1-163D-B7C7-4D0B01A588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84EAB-20A2-4BDB-8C23-CD8580ABFC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5825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E8DAE1-1ADC-5ABA-1B47-562B442F6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590C82-A993-0467-9664-76FD6891C1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D14B582-C74B-AF9A-13F3-9EDA41289E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FC012A0-6A0C-0B78-11C7-2559B5829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D038B-8963-4682-9B6A-77DD6731484F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FFD140A-F48D-44E4-7511-B0C9BC985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79C1383-623D-E264-744B-22CAAA492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84EAB-20A2-4BDB-8C23-CD8580ABFC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1435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49E67E-2874-0C77-7B05-A16BDADF4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4ECBDC9-60A6-4D7A-0BE6-96D2094252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F82273A-8F35-20AF-85DC-641CBB73B4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339BB94D-9332-C1DA-5ED3-5526488135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979C15B-F88A-A392-19FA-AA57D0EAB4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21D5D41-520B-FEA5-207B-44B3A7D66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D038B-8963-4682-9B6A-77DD6731484F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5824B8-DBB3-1C29-6DD8-A84934AC3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717348F-174A-5A2A-AFDF-DC5B6D191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84EAB-20A2-4BDB-8C23-CD8580ABFC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7790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136741-01DB-10E1-3E89-2032C2D34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7D368B0-ABD4-31B2-7959-50FCED6DE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D038B-8963-4682-9B6A-77DD6731484F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99E17EA-21C5-BCF0-23E6-910697F98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60C74E6-B215-9772-A95E-6851A1318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84EAB-20A2-4BDB-8C23-CD8580ABFC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03142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4CFFDD55-12D8-1204-7AA0-ED2C728CF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D038B-8963-4682-9B6A-77DD6731484F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6312538-A1F1-9414-C94B-29A9DDB2E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FF5AFC8-F824-EEC2-BA8C-A646CB5D9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84EAB-20A2-4BDB-8C23-CD8580ABFC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94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D8EFEB-0EAF-1F30-809A-5828541EA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13106DB-3F06-BC5B-B52B-33C6A87A20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583877B-8191-47E4-59BA-12AAC6C647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2600A4D-368A-E130-E7F1-6A95B0D8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D038B-8963-4682-9B6A-77DD6731484F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CAB0DD6-93D4-B004-5A3D-055F4B9E8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7A56A42-E501-B000-3269-19C447DA4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84EAB-20A2-4BDB-8C23-CD8580ABFC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2338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50C4B1-7003-FD44-91BF-54EEB32F9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6E19767-F60D-232F-371A-5347CAA2EE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738DACD-3E39-80C5-4D92-EC68C05437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2D1173F-A980-ABC3-4A93-24F404620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D038B-8963-4682-9B6A-77DD6731484F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8CFC87C-9013-AD82-4A82-E17ACA558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E30599E-C9EF-3759-9BD4-FC0A66BE4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84EAB-20A2-4BDB-8C23-CD8580ABFC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0800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FC4F33-2B46-93F8-5FFF-DD7C60E8C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910F173-9348-9493-B6DC-0D9F50F263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13A3E0D-D58B-6CD2-8C7A-A8D560887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D038B-8963-4682-9B6A-77DD6731484F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16F96A-96BF-CC3C-7A3B-B814EB4A5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804120-3916-C862-7E0F-D054C9F82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84EAB-20A2-4BDB-8C23-CD8580ABFC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4629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CDA2DF6-216F-8383-2F6B-5C32F4DB65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5CD1B05-ADCB-6068-617E-2118F92258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EA4DD0-B158-ABCC-9ECD-17C0055C3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D038B-8963-4682-9B6A-77DD6731484F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9D90A31-2713-C5EB-41F3-BAC387C9D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AAB6D45-2F1C-2394-127F-4A071C70F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84EAB-20A2-4BDB-8C23-CD8580ABFC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1059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DC7A882-EE0A-901C-3D18-98BDDB70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F3512C0-7B37-1B34-88C1-99DB52E954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68F67E-B692-55E2-E401-3D5B82E2ED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DD038B-8963-4682-9B6A-77DD6731484F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259896-062E-F625-99AA-0759442B8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324195-D135-9494-6E42-3BE69F5338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784EAB-20A2-4BDB-8C23-CD8580ABFC8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5737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4E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E690DFAE-BF23-2EA5-3362-2B820A566EB2}"/>
              </a:ext>
            </a:extLst>
          </p:cNvPr>
          <p:cNvSpPr/>
          <p:nvPr/>
        </p:nvSpPr>
        <p:spPr>
          <a:xfrm>
            <a:off x="8763000" y="-1397000"/>
            <a:ext cx="5461000" cy="5461000"/>
          </a:xfrm>
          <a:prstGeom prst="ellipse">
            <a:avLst/>
          </a:prstGeom>
          <a:solidFill>
            <a:srgbClr val="2E6DA4">
              <a:alpha val="4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B968E538-6146-3D80-2E7A-1AEDA0A6F54C}"/>
              </a:ext>
            </a:extLst>
          </p:cNvPr>
          <p:cNvSpPr/>
          <p:nvPr/>
        </p:nvSpPr>
        <p:spPr>
          <a:xfrm>
            <a:off x="9906000" y="4191000"/>
            <a:ext cx="3175000" cy="3175000"/>
          </a:xfrm>
          <a:prstGeom prst="ellipse">
            <a:avLst/>
          </a:prstGeom>
          <a:solidFill>
            <a:srgbClr val="2E6DA4">
              <a:alpha val="3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16772F-E54A-F2A6-6C0C-BB4EDE59631B}"/>
              </a:ext>
            </a:extLst>
          </p:cNvPr>
          <p:cNvSpPr txBox="1"/>
          <p:nvPr/>
        </p:nvSpPr>
        <p:spPr>
          <a:xfrm>
            <a:off x="889000" y="787400"/>
            <a:ext cx="6350000" cy="1692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100" b="1">
                <a:solidFill>
                  <a:srgbClr val="AED6F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期中实践 </a:t>
            </a:r>
            <a:r>
              <a:rPr lang="en-US" altLang="zh-CN" sz="1100" b="1">
                <a:solidFill>
                  <a:srgbClr val="AED6F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 b="1">
                <a:solidFill>
                  <a:srgbClr val="AED6F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智慧审计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F08E0FC-32C9-BE5E-5112-0402D31733D5}"/>
              </a:ext>
            </a:extLst>
          </p:cNvPr>
          <p:cNvSpPr/>
          <p:nvPr/>
        </p:nvSpPr>
        <p:spPr>
          <a:xfrm>
            <a:off x="889000" y="1625600"/>
            <a:ext cx="101600" cy="1905000"/>
          </a:xfrm>
          <a:prstGeom prst="rect">
            <a:avLst/>
          </a:prstGeom>
          <a:solidFill>
            <a:srgbClr val="E67E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5EB0FDB-ED01-F396-085A-F8AAC2176586}"/>
              </a:ext>
            </a:extLst>
          </p:cNvPr>
          <p:cNvSpPr txBox="1"/>
          <p:nvPr/>
        </p:nvSpPr>
        <p:spPr>
          <a:xfrm>
            <a:off x="1219200" y="1524000"/>
            <a:ext cx="9144000" cy="61555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4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智慧审计 </a:t>
            </a:r>
            <a:r>
              <a:rPr lang="en-US" altLang="zh-CN" sz="4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4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机器学习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C8E605-C88E-065E-845B-64CE07B04253}"/>
              </a:ext>
            </a:extLst>
          </p:cNvPr>
          <p:cNvSpPr txBox="1"/>
          <p:nvPr/>
        </p:nvSpPr>
        <p:spPr>
          <a:xfrm>
            <a:off x="1219200" y="2514600"/>
            <a:ext cx="914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>
                <a:solidFill>
                  <a:srgbClr val="AED6F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Financial Audit Transactions </a:t>
            </a:r>
            <a:r>
              <a:rPr lang="zh-CN" altLang="en-US">
                <a:solidFill>
                  <a:srgbClr val="AED6F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异常识别实践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64CA445-FD01-8D50-20D3-0B0D0F4EF42D}"/>
              </a:ext>
            </a:extLst>
          </p:cNvPr>
          <p:cNvSpPr txBox="1"/>
          <p:nvPr/>
        </p:nvSpPr>
        <p:spPr>
          <a:xfrm>
            <a:off x="1219200" y="3149600"/>
            <a:ext cx="101600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 b="1">
                <a:solidFill>
                  <a:srgbClr val="F5CBA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问题：</a:t>
            </a:r>
            <a:r>
              <a:rPr lang="en-US" altLang="zh-CN" sz="1050" b="1">
                <a:solidFill>
                  <a:srgbClr val="F5CBA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7,000 </a:t>
            </a:r>
            <a:r>
              <a:rPr lang="zh-CN" altLang="en-US" sz="1050" b="1">
                <a:solidFill>
                  <a:srgbClr val="F5CBA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笔交易人工逐笔看不完；规则只看单字段；异常样本少且标签不可靠。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114C1EC-4E1E-1673-0900-F4742A4BAE35}"/>
              </a:ext>
            </a:extLst>
          </p:cNvPr>
          <p:cNvSpPr txBox="1"/>
          <p:nvPr/>
        </p:nvSpPr>
        <p:spPr>
          <a:xfrm>
            <a:off x="1219200" y="3581400"/>
            <a:ext cx="10160000" cy="20005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目标：用 </a:t>
            </a:r>
            <a:r>
              <a:rPr lang="en-US" altLang="zh-CN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2% </a:t>
            </a:r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审计容量，从 </a:t>
            </a:r>
            <a:r>
              <a:rPr lang="en-US" altLang="zh-CN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7,000 </a:t>
            </a:r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笔交易中筛出 </a:t>
            </a:r>
            <a:r>
              <a:rPr lang="en-US" altLang="zh-CN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140 </a:t>
            </a:r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条最值得核查的样本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9C801C2-E94C-B844-EDF6-613C1830811E}"/>
              </a:ext>
            </a:extLst>
          </p:cNvPr>
          <p:cNvSpPr txBox="1"/>
          <p:nvPr/>
        </p:nvSpPr>
        <p:spPr>
          <a:xfrm>
            <a:off x="1219200" y="4013200"/>
            <a:ext cx="101600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>
                <a:solidFill>
                  <a:srgbClr val="D6EAF8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方法：</a:t>
            </a:r>
            <a:r>
              <a:rPr lang="en-US" altLang="zh-CN" sz="1050">
                <a:solidFill>
                  <a:srgbClr val="D6EAF8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Benford </a:t>
            </a:r>
            <a:r>
              <a:rPr lang="zh-CN" altLang="en-US" sz="1050">
                <a:solidFill>
                  <a:srgbClr val="D6EAF8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首位数 </a:t>
            </a:r>
            <a:r>
              <a:rPr lang="en-US" altLang="zh-CN" sz="1050">
                <a:solidFill>
                  <a:srgbClr val="D6EAF8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Isolation Forest + Top-K + 2×2 + </a:t>
            </a:r>
            <a:r>
              <a:rPr lang="zh-CN" altLang="en-US" sz="1050">
                <a:solidFill>
                  <a:srgbClr val="D6EAF8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人工归因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D1B8990-F281-B814-68B2-37FF4E6865E3}"/>
              </a:ext>
            </a:extLst>
          </p:cNvPr>
          <p:cNvSpPr txBox="1"/>
          <p:nvPr/>
        </p:nvSpPr>
        <p:spPr>
          <a:xfrm>
            <a:off x="1219200" y="5461000"/>
            <a:ext cx="6350000" cy="1692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100">
                <a:solidFill>
                  <a:srgbClr val="AED6F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期中实践汇报  </a:t>
            </a:r>
            <a:r>
              <a:rPr lang="en-US" altLang="zh-CN" sz="1100">
                <a:solidFill>
                  <a:srgbClr val="AED6F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 2026 </a:t>
            </a:r>
            <a:r>
              <a:rPr lang="zh-CN" altLang="en-US" sz="1100">
                <a:solidFill>
                  <a:srgbClr val="AED6F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年 </a:t>
            </a:r>
            <a:r>
              <a:rPr lang="en-US" altLang="zh-CN" sz="1100">
                <a:solidFill>
                  <a:srgbClr val="AED6F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10 </a:t>
            </a:r>
            <a:r>
              <a:rPr lang="zh-CN" altLang="en-US" sz="1100">
                <a:solidFill>
                  <a:srgbClr val="AED6F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月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A4CCBA0-9C10-8F18-9D08-BE5A93E3F500}"/>
              </a:ext>
            </a:extLst>
          </p:cNvPr>
          <p:cNvSpPr txBox="1"/>
          <p:nvPr/>
        </p:nvSpPr>
        <p:spPr>
          <a:xfrm>
            <a:off x="8128000" y="5461000"/>
            <a:ext cx="31750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lang="zh-CN" altLang="en-US" sz="1000">
                <a:solidFill>
                  <a:srgbClr val="AED6F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全流程 </a:t>
            </a:r>
            <a:r>
              <a:rPr lang="en-US" altLang="zh-CN" sz="1000">
                <a:solidFill>
                  <a:srgbClr val="AED6F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CPU  ·  </a:t>
            </a:r>
            <a:r>
              <a:rPr lang="zh-CN" altLang="en-US" sz="1000">
                <a:solidFill>
                  <a:srgbClr val="AED6F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免费工具  </a:t>
            </a:r>
            <a:r>
              <a:rPr lang="en-US" altLang="zh-CN" sz="1000">
                <a:solidFill>
                  <a:srgbClr val="AED6F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 </a:t>
            </a:r>
            <a:r>
              <a:rPr lang="zh-CN" altLang="en-US" sz="1000">
                <a:solidFill>
                  <a:srgbClr val="AED6F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约 </a:t>
            </a:r>
            <a:r>
              <a:rPr lang="en-US" altLang="zh-CN" sz="1000">
                <a:solidFill>
                  <a:srgbClr val="AED6F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000">
                <a:solidFill>
                  <a:srgbClr val="AED6F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天</a:t>
            </a:r>
          </a:p>
        </p:txBody>
      </p:sp>
    </p:spTree>
    <p:extLst>
      <p:ext uri="{BB962C8B-B14F-4D97-AF65-F5344CB8AC3E}">
        <p14:creationId xmlns:p14="http://schemas.microsoft.com/office/powerpoint/2010/main" val="2725397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CA46112-89A3-86EF-84C8-C615A8F72674}"/>
              </a:ext>
            </a:extLst>
          </p:cNvPr>
          <p:cNvSpPr/>
          <p:nvPr/>
        </p:nvSpPr>
        <p:spPr>
          <a:xfrm>
            <a:off x="508000" y="381000"/>
            <a:ext cx="76200" cy="431800"/>
          </a:xfrm>
          <a:prstGeom prst="rect">
            <a:avLst/>
          </a:prstGeom>
          <a:solidFill>
            <a:srgbClr val="E67E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7F9DABA-D3F3-09DF-4087-7F4CFB4A9EA8}"/>
              </a:ext>
            </a:extLst>
          </p:cNvPr>
          <p:cNvSpPr txBox="1"/>
          <p:nvPr/>
        </p:nvSpPr>
        <p:spPr>
          <a:xfrm>
            <a:off x="711200" y="304800"/>
            <a:ext cx="10922000" cy="35394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学了什么：一条可复现的审计数据流水线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A4E617A-08E1-131F-68D1-67FAD69E6530}"/>
              </a:ext>
            </a:extLst>
          </p:cNvPr>
          <p:cNvSpPr txBox="1"/>
          <p:nvPr/>
        </p:nvSpPr>
        <p:spPr>
          <a:xfrm>
            <a:off x="711200" y="9144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针对上面的问题，我把解决过程拆成四步；从原始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CSV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到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140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条名单，每步都有留痕。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90FDD5F-103D-9A4B-9252-DD0A3C1CCACF}"/>
              </a:ext>
            </a:extLst>
          </p:cNvPr>
          <p:cNvSpPr/>
          <p:nvPr/>
        </p:nvSpPr>
        <p:spPr>
          <a:xfrm>
            <a:off x="508000" y="1803400"/>
            <a:ext cx="2603500" cy="28194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40414C5-5E22-4702-7F38-AAA4FBA36BDB}"/>
              </a:ext>
            </a:extLst>
          </p:cNvPr>
          <p:cNvSpPr/>
          <p:nvPr/>
        </p:nvSpPr>
        <p:spPr>
          <a:xfrm>
            <a:off x="508000" y="1803400"/>
            <a:ext cx="2603500" cy="88900"/>
          </a:xfrm>
          <a:prstGeom prst="rect">
            <a:avLst/>
          </a:prstGeom>
          <a:solidFill>
            <a:srgbClr val="2E86C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CCBFB4B-F050-FDD7-FD9D-79A5727BFBD5}"/>
              </a:ext>
            </a:extLst>
          </p:cNvPr>
          <p:cNvSpPr txBox="1"/>
          <p:nvPr/>
        </p:nvSpPr>
        <p:spPr>
          <a:xfrm>
            <a:off x="711200" y="2057400"/>
            <a:ext cx="22225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600" b="1">
                <a:solidFill>
                  <a:srgbClr val="2E86C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① 获取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957D2C5-E069-2A41-D5F9-8ACA7CF6FA42}"/>
              </a:ext>
            </a:extLst>
          </p:cNvPr>
          <p:cNvSpPr txBox="1"/>
          <p:nvPr/>
        </p:nvSpPr>
        <p:spPr>
          <a:xfrm>
            <a:off x="711200" y="2590800"/>
            <a:ext cx="2222500" cy="80778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7,000 × 59
0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缺失
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955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条异常（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13.64%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
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11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组字段（含标签）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EF2200F-EA93-6EF7-112C-1B671FE5F59B}"/>
              </a:ext>
            </a:extLst>
          </p:cNvPr>
          <p:cNvSpPr/>
          <p:nvPr/>
        </p:nvSpPr>
        <p:spPr>
          <a:xfrm>
            <a:off x="711200" y="3886200"/>
            <a:ext cx="2197100" cy="1016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7E43C0A-8A30-56A3-7237-71EF29363BE4}"/>
              </a:ext>
            </a:extLst>
          </p:cNvPr>
          <p:cNvSpPr txBox="1"/>
          <p:nvPr/>
        </p:nvSpPr>
        <p:spPr>
          <a:xfrm>
            <a:off x="711200" y="4013200"/>
            <a:ext cx="22225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→ audit_raw.csv</a:t>
            </a:r>
            <a:endParaRPr lang="zh-CN" altLang="en-US" sz="85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96DBBEB-9DCB-A1FF-C382-24A4C7411910}"/>
              </a:ext>
            </a:extLst>
          </p:cNvPr>
          <p:cNvSpPr/>
          <p:nvPr/>
        </p:nvSpPr>
        <p:spPr>
          <a:xfrm>
            <a:off x="3429000" y="1803400"/>
            <a:ext cx="2603500" cy="28194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7125010-5A4F-4B0E-FEDB-BB4E89AAC233}"/>
              </a:ext>
            </a:extLst>
          </p:cNvPr>
          <p:cNvSpPr/>
          <p:nvPr/>
        </p:nvSpPr>
        <p:spPr>
          <a:xfrm>
            <a:off x="3429000" y="1803400"/>
            <a:ext cx="2603500" cy="88900"/>
          </a:xfrm>
          <a:prstGeom prst="rect">
            <a:avLst/>
          </a:prstGeom>
          <a:solidFill>
            <a:srgbClr val="E67E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B5B9E7F-B3C9-2C83-A61D-AD76CFA92A79}"/>
              </a:ext>
            </a:extLst>
          </p:cNvPr>
          <p:cNvSpPr txBox="1"/>
          <p:nvPr/>
        </p:nvSpPr>
        <p:spPr>
          <a:xfrm>
            <a:off x="3632200" y="2057400"/>
            <a:ext cx="22225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6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② 清洗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3DFA4ED-30E6-44BF-7D14-F9ADC3748C5C}"/>
              </a:ext>
            </a:extLst>
          </p:cNvPr>
          <p:cNvSpPr txBox="1"/>
          <p:nvPr/>
        </p:nvSpPr>
        <p:spPr>
          <a:xfrm>
            <a:off x="3632200" y="2590800"/>
            <a:ext cx="2222500" cy="80778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59 → 115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维
剔除 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13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列
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79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 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One-Hot
4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个金额 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log1p+z</a:t>
            </a:r>
            <a:endParaRPr lang="zh-CN" altLang="en-US" sz="1050">
              <a:solidFill>
                <a:srgbClr val="34495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8497F3A-0DE1-7026-98C1-541234097F52}"/>
              </a:ext>
            </a:extLst>
          </p:cNvPr>
          <p:cNvSpPr/>
          <p:nvPr/>
        </p:nvSpPr>
        <p:spPr>
          <a:xfrm>
            <a:off x="3632200" y="3886200"/>
            <a:ext cx="2197100" cy="1016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FF821CA-983A-237B-D7C8-E8DFEA7AE633}"/>
              </a:ext>
            </a:extLst>
          </p:cNvPr>
          <p:cNvSpPr txBox="1"/>
          <p:nvPr/>
        </p:nvSpPr>
        <p:spPr>
          <a:xfrm>
            <a:off x="3632200" y="4013200"/>
            <a:ext cx="22225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→ audit_clean.csv</a:t>
            </a:r>
            <a:endParaRPr lang="zh-CN" altLang="en-US" sz="85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FF73DD55-4FA2-7CB9-F3F7-14B9891EB672}"/>
              </a:ext>
            </a:extLst>
          </p:cNvPr>
          <p:cNvSpPr/>
          <p:nvPr/>
        </p:nvSpPr>
        <p:spPr>
          <a:xfrm>
            <a:off x="6350000" y="1803400"/>
            <a:ext cx="2603500" cy="28194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467AE65-C48B-6915-2531-0FC6056C7135}"/>
              </a:ext>
            </a:extLst>
          </p:cNvPr>
          <p:cNvSpPr/>
          <p:nvPr/>
        </p:nvSpPr>
        <p:spPr>
          <a:xfrm>
            <a:off x="6350000" y="1803400"/>
            <a:ext cx="2603500" cy="88900"/>
          </a:xfrm>
          <a:prstGeom prst="rect">
            <a:avLst/>
          </a:prstGeom>
          <a:solidFill>
            <a:srgbClr val="27AE6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387B7D9-DF3A-4071-FA68-3DAE21ED3252}"/>
              </a:ext>
            </a:extLst>
          </p:cNvPr>
          <p:cNvSpPr txBox="1"/>
          <p:nvPr/>
        </p:nvSpPr>
        <p:spPr>
          <a:xfrm>
            <a:off x="6553200" y="2057400"/>
            <a:ext cx="22225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600" b="1">
                <a:solidFill>
                  <a:srgbClr val="27AE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③ 分析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6F48C54-7FA0-E9AF-E596-1973AD5A340D}"/>
              </a:ext>
            </a:extLst>
          </p:cNvPr>
          <p:cNvSpPr txBox="1"/>
          <p:nvPr/>
        </p:nvSpPr>
        <p:spPr>
          <a:xfrm>
            <a:off x="6553200" y="2590800"/>
            <a:ext cx="2222500" cy="80778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Benford MAD 0.00405
IF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标记 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140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
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Top-140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精确率 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92.1%
2×2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规则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模型互补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45F75DF-F171-FDE3-1DE3-E7C1634C1887}"/>
              </a:ext>
            </a:extLst>
          </p:cNvPr>
          <p:cNvSpPr/>
          <p:nvPr/>
        </p:nvSpPr>
        <p:spPr>
          <a:xfrm>
            <a:off x="6553200" y="3886200"/>
            <a:ext cx="2197100" cy="1016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DF6E250-06D1-A4D1-AADE-CE60A5FD6444}"/>
              </a:ext>
            </a:extLst>
          </p:cNvPr>
          <p:cNvSpPr txBox="1"/>
          <p:nvPr/>
        </p:nvSpPr>
        <p:spPr>
          <a:xfrm>
            <a:off x="6553200" y="4013200"/>
            <a:ext cx="22225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→ scores / top140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名单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A645F99F-8D3B-C5CB-4E8D-2080D17CB040}"/>
              </a:ext>
            </a:extLst>
          </p:cNvPr>
          <p:cNvSpPr/>
          <p:nvPr/>
        </p:nvSpPr>
        <p:spPr>
          <a:xfrm>
            <a:off x="9271000" y="1803400"/>
            <a:ext cx="2603500" cy="28194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5CF409B-C63F-035B-CCE4-18960C38CEA0}"/>
              </a:ext>
            </a:extLst>
          </p:cNvPr>
          <p:cNvSpPr/>
          <p:nvPr/>
        </p:nvSpPr>
        <p:spPr>
          <a:xfrm>
            <a:off x="9271000" y="1803400"/>
            <a:ext cx="2603500" cy="88900"/>
          </a:xfrm>
          <a:prstGeom prst="rect">
            <a:avLst/>
          </a:prstGeom>
          <a:solidFill>
            <a:srgbClr val="1F4E7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4F398AD5-10CD-4576-55B3-A8EA11B51F5A}"/>
              </a:ext>
            </a:extLst>
          </p:cNvPr>
          <p:cNvSpPr txBox="1"/>
          <p:nvPr/>
        </p:nvSpPr>
        <p:spPr>
          <a:xfrm>
            <a:off x="9474200" y="2057400"/>
            <a:ext cx="22225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60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④ 汇报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2B776BB-AC77-BDD2-5FA8-8E28B8E1626F}"/>
              </a:ext>
            </a:extLst>
          </p:cNvPr>
          <p:cNvSpPr txBox="1"/>
          <p:nvPr/>
        </p:nvSpPr>
        <p:spPr>
          <a:xfrm>
            <a:off x="9474200" y="2590800"/>
            <a:ext cx="2222500" cy="80778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张统一风格图
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10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页 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PPT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+3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页附录）
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条人工归因案例
答辩问答备忘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022A2B1-A4C7-AB21-D0C2-F2A69B44F2CD}"/>
              </a:ext>
            </a:extLst>
          </p:cNvPr>
          <p:cNvSpPr/>
          <p:nvPr/>
        </p:nvSpPr>
        <p:spPr>
          <a:xfrm>
            <a:off x="9474200" y="3886200"/>
            <a:ext cx="2197100" cy="1016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B32812C-4EC6-E8FF-394E-5DC177FFC0CC}"/>
              </a:ext>
            </a:extLst>
          </p:cNvPr>
          <p:cNvSpPr txBox="1"/>
          <p:nvPr/>
        </p:nvSpPr>
        <p:spPr>
          <a:xfrm>
            <a:off x="9474200" y="4013200"/>
            <a:ext cx="22225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→ figures /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本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PPT</a:t>
            </a:r>
            <a:endParaRPr lang="zh-CN" altLang="en-US" sz="85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9" name="箭头: 右 28">
            <a:extLst>
              <a:ext uri="{FF2B5EF4-FFF2-40B4-BE49-F238E27FC236}">
                <a16:creationId xmlns:a16="http://schemas.microsoft.com/office/drawing/2014/main" id="{4ED0004D-FE02-14BF-840F-B3935EDCA441}"/>
              </a:ext>
            </a:extLst>
          </p:cNvPr>
          <p:cNvSpPr/>
          <p:nvPr/>
        </p:nvSpPr>
        <p:spPr>
          <a:xfrm>
            <a:off x="3149600" y="3098800"/>
            <a:ext cx="228600" cy="330200"/>
          </a:xfrm>
          <a:prstGeom prst="rightArrow">
            <a:avLst/>
          </a:prstGeom>
          <a:solidFill>
            <a:srgbClr val="BFC9C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箭头: 右 29">
            <a:extLst>
              <a:ext uri="{FF2B5EF4-FFF2-40B4-BE49-F238E27FC236}">
                <a16:creationId xmlns:a16="http://schemas.microsoft.com/office/drawing/2014/main" id="{B2F821A8-0CC0-7B98-F9E7-18DB20D0B530}"/>
              </a:ext>
            </a:extLst>
          </p:cNvPr>
          <p:cNvSpPr/>
          <p:nvPr/>
        </p:nvSpPr>
        <p:spPr>
          <a:xfrm>
            <a:off x="6070600" y="3098800"/>
            <a:ext cx="228600" cy="330200"/>
          </a:xfrm>
          <a:prstGeom prst="rightArrow">
            <a:avLst/>
          </a:prstGeom>
          <a:solidFill>
            <a:srgbClr val="BFC9C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箭头: 右 30">
            <a:extLst>
              <a:ext uri="{FF2B5EF4-FFF2-40B4-BE49-F238E27FC236}">
                <a16:creationId xmlns:a16="http://schemas.microsoft.com/office/drawing/2014/main" id="{44C34316-8E31-AB90-6942-73C409C6DDE2}"/>
              </a:ext>
            </a:extLst>
          </p:cNvPr>
          <p:cNvSpPr/>
          <p:nvPr/>
        </p:nvSpPr>
        <p:spPr>
          <a:xfrm>
            <a:off x="8991600" y="3098800"/>
            <a:ext cx="228600" cy="330200"/>
          </a:xfrm>
          <a:prstGeom prst="rightArrow">
            <a:avLst/>
          </a:prstGeom>
          <a:solidFill>
            <a:srgbClr val="BFC9C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8BC767C-0042-2AB1-244F-C3076F652136}"/>
              </a:ext>
            </a:extLst>
          </p:cNvPr>
          <p:cNvSpPr/>
          <p:nvPr/>
        </p:nvSpPr>
        <p:spPr>
          <a:xfrm>
            <a:off x="508000" y="4978400"/>
            <a:ext cx="11176000" cy="736600"/>
          </a:xfrm>
          <a:prstGeom prst="roundRect">
            <a:avLst/>
          </a:prstGeom>
          <a:solidFill>
            <a:srgbClr val="F4F6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58EB5A8-7372-E5E3-257A-9A8E1DAF5801}"/>
              </a:ext>
            </a:extLst>
          </p:cNvPr>
          <p:cNvSpPr txBox="1"/>
          <p:nvPr/>
        </p:nvSpPr>
        <p:spPr>
          <a:xfrm>
            <a:off x="762000" y="5130800"/>
            <a:ext cx="10668000" cy="184666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20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全程 </a:t>
            </a:r>
            <a:r>
              <a:rPr lang="en-US" altLang="zh-CN" sz="120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CPU</a:t>
            </a:r>
            <a:r>
              <a:rPr lang="zh-CN" altLang="en-US" sz="120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、免费工具、约 </a:t>
            </a:r>
            <a:r>
              <a:rPr lang="en-US" altLang="zh-CN" sz="120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20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天完成；不需要 </a:t>
            </a:r>
            <a:r>
              <a:rPr lang="en-US" altLang="zh-CN" sz="120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r>
              <a:rPr lang="zh-CN" altLang="en-US" sz="120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、深度学习框架、数据库或 </a:t>
            </a:r>
            <a:r>
              <a:rPr lang="en-US" altLang="zh-CN" sz="120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SHAP</a:t>
            </a:r>
            <a:r>
              <a:rPr lang="zh-CN" altLang="en-US" sz="120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6CF0BB7-6240-2503-7EEF-339187D65EB0}"/>
              </a:ext>
            </a:extLst>
          </p:cNvPr>
          <p:cNvSpPr txBox="1"/>
          <p:nvPr/>
        </p:nvSpPr>
        <p:spPr>
          <a:xfrm>
            <a:off x="762000" y="5410200"/>
            <a:ext cx="106680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每个关键中间结果都保存为 </a:t>
            </a: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CSV / </a:t>
            </a: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图 </a:t>
            </a: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日志，方便复查和答辩。</a:t>
            </a:r>
          </a:p>
        </p:txBody>
      </p:sp>
    </p:spTree>
    <p:extLst>
      <p:ext uri="{BB962C8B-B14F-4D97-AF65-F5344CB8AC3E}">
        <p14:creationId xmlns:p14="http://schemas.microsoft.com/office/powerpoint/2010/main" val="2405188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81167F1-9ECF-D3A7-AECC-0C7B5CD1AD3C}"/>
              </a:ext>
            </a:extLst>
          </p:cNvPr>
          <p:cNvSpPr/>
          <p:nvPr/>
        </p:nvSpPr>
        <p:spPr>
          <a:xfrm>
            <a:off x="508000" y="381000"/>
            <a:ext cx="76200" cy="431800"/>
          </a:xfrm>
          <a:prstGeom prst="rect">
            <a:avLst/>
          </a:prstGeom>
          <a:solidFill>
            <a:srgbClr val="E67E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4C7BD96-C370-26F8-66AC-5CCF9D51F6AD}"/>
              </a:ext>
            </a:extLst>
          </p:cNvPr>
          <p:cNvSpPr txBox="1"/>
          <p:nvPr/>
        </p:nvSpPr>
        <p:spPr>
          <a:xfrm>
            <a:off x="711200" y="304800"/>
            <a:ext cx="10922000" cy="35394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为何选审计：三个条件刚好都满足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33CC247-E27B-CDCE-56FA-13C45C411769}"/>
              </a:ext>
            </a:extLst>
          </p:cNvPr>
          <p:cNvSpPr txBox="1"/>
          <p:nvPr/>
        </p:nvSpPr>
        <p:spPr>
          <a:xfrm>
            <a:off x="711200" y="8890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审计现场：人力有限、异常稀少、规则只看单字段 → 需要无监督 </a:t>
            </a:r>
            <a:r>
              <a:rPr lang="en-US" altLang="zh-CN" sz="105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05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可解释的 </a:t>
            </a:r>
            <a:r>
              <a:rPr lang="en-US" altLang="zh-CN" sz="105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Top-K </a:t>
            </a:r>
            <a:r>
              <a:rPr lang="zh-CN" altLang="en-US" sz="105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筛查。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263B06C1-A597-FD75-C649-5D03CB5F710D}"/>
              </a:ext>
            </a:extLst>
          </p:cNvPr>
          <p:cNvSpPr txBox="1"/>
          <p:nvPr/>
        </p:nvSpPr>
        <p:spPr>
          <a:xfrm>
            <a:off x="711200" y="1143000"/>
            <a:ext cx="109220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0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不是“为了用机器学习而用”，而是这个场景同时具备可验证、可解释、可落地的条件。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E9936780-609B-414E-6477-17AB587B0C53}"/>
              </a:ext>
            </a:extLst>
          </p:cNvPr>
          <p:cNvSpPr/>
          <p:nvPr/>
        </p:nvSpPr>
        <p:spPr>
          <a:xfrm>
            <a:off x="508000" y="1676400"/>
            <a:ext cx="3556000" cy="33274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A924FD4-C360-B431-9ECC-E572D0D2A5A3}"/>
              </a:ext>
            </a:extLst>
          </p:cNvPr>
          <p:cNvSpPr/>
          <p:nvPr/>
        </p:nvSpPr>
        <p:spPr>
          <a:xfrm>
            <a:off x="508000" y="1676400"/>
            <a:ext cx="3556000" cy="88900"/>
          </a:xfrm>
          <a:prstGeom prst="rect">
            <a:avLst/>
          </a:prstGeom>
          <a:solidFill>
            <a:srgbClr val="2E86C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42E5B60-E8F8-8726-F6B7-E8D3C24B0BBB}"/>
              </a:ext>
            </a:extLst>
          </p:cNvPr>
          <p:cNvSpPr txBox="1"/>
          <p:nvPr/>
        </p:nvSpPr>
        <p:spPr>
          <a:xfrm>
            <a:off x="736600" y="19050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2400" b="1">
                <a:solidFill>
                  <a:srgbClr val="2E86C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01</a:t>
            </a:r>
            <a:endParaRPr lang="zh-CN" altLang="en-US" sz="2400" b="1">
              <a:solidFill>
                <a:srgbClr val="2E86C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ED479D8-C9F3-E383-F386-2D0FC23BF4E0}"/>
              </a:ext>
            </a:extLst>
          </p:cNvPr>
          <p:cNvSpPr txBox="1"/>
          <p:nvPr/>
        </p:nvSpPr>
        <p:spPr>
          <a:xfrm>
            <a:off x="736600" y="2438400"/>
            <a:ext cx="30988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6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有答案可验证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4319B15-88F5-A30B-1C92-F7B25ECAD074}"/>
              </a:ext>
            </a:extLst>
          </p:cNvPr>
          <p:cNvSpPr txBox="1"/>
          <p:nvPr/>
        </p:nvSpPr>
        <p:spPr>
          <a:xfrm>
            <a:off x="736600" y="3022600"/>
            <a:ext cx="3098800" cy="60093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955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条异常标签，占 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13.64%</a:t>
            </a:r>
          </a:p>
          <a:p>
            <a:pPr>
              <a:lnSpc>
                <a:spcPct val="128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8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类异常，可做 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Top-K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评估</a:t>
            </a:r>
          </a:p>
          <a:p>
            <a:pPr>
              <a:lnSpc>
                <a:spcPct val="128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不只看准确率，看命中率与召回率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B203DA4-7AE0-1DDF-7684-DA364DB62432}"/>
              </a:ext>
            </a:extLst>
          </p:cNvPr>
          <p:cNvSpPr/>
          <p:nvPr/>
        </p:nvSpPr>
        <p:spPr>
          <a:xfrm>
            <a:off x="736600" y="4140200"/>
            <a:ext cx="3098800" cy="1016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4DAA8EA-CEC5-0EE6-AADA-8D931E24D041}"/>
              </a:ext>
            </a:extLst>
          </p:cNvPr>
          <p:cNvSpPr txBox="1"/>
          <p:nvPr/>
        </p:nvSpPr>
        <p:spPr>
          <a:xfrm>
            <a:off x="736600" y="4267200"/>
            <a:ext cx="30988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验证：</a:t>
            </a: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Top-K </a:t>
            </a: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精确率 </a:t>
            </a: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召回率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9DECEFE-526F-E04D-6EAD-66A676FC0ED0}"/>
              </a:ext>
            </a:extLst>
          </p:cNvPr>
          <p:cNvSpPr/>
          <p:nvPr/>
        </p:nvSpPr>
        <p:spPr>
          <a:xfrm>
            <a:off x="4318000" y="1676400"/>
            <a:ext cx="3556000" cy="33274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3A6027F-E27F-815C-3157-DB6787070116}"/>
              </a:ext>
            </a:extLst>
          </p:cNvPr>
          <p:cNvSpPr/>
          <p:nvPr/>
        </p:nvSpPr>
        <p:spPr>
          <a:xfrm>
            <a:off x="4318000" y="1676400"/>
            <a:ext cx="3556000" cy="88900"/>
          </a:xfrm>
          <a:prstGeom prst="rect">
            <a:avLst/>
          </a:prstGeom>
          <a:solidFill>
            <a:srgbClr val="E67E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C7305F40-C5F3-A04B-77EF-536BD772CBDD}"/>
              </a:ext>
            </a:extLst>
          </p:cNvPr>
          <p:cNvSpPr txBox="1"/>
          <p:nvPr/>
        </p:nvSpPr>
        <p:spPr>
          <a:xfrm>
            <a:off x="4546600" y="19050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24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02</a:t>
            </a:r>
            <a:endParaRPr lang="zh-CN" altLang="en-US" sz="2400" b="1">
              <a:solidFill>
                <a:srgbClr val="E67E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7A6026E-0AE2-35FD-E547-443EE9DE87DF}"/>
              </a:ext>
            </a:extLst>
          </p:cNvPr>
          <p:cNvSpPr txBox="1"/>
          <p:nvPr/>
        </p:nvSpPr>
        <p:spPr>
          <a:xfrm>
            <a:off x="4546600" y="2438400"/>
            <a:ext cx="30988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6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有业务可解释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4A148B2-1DE5-15F4-71E3-DE8D80CCE5C9}"/>
              </a:ext>
            </a:extLst>
          </p:cNvPr>
          <p:cNvSpPr txBox="1"/>
          <p:nvPr/>
        </p:nvSpPr>
        <p:spPr>
          <a:xfrm>
            <a:off x="4546600" y="3022600"/>
            <a:ext cx="3098800" cy="60093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金额、审批、发票、供应商、关系网络</a:t>
            </a:r>
          </a:p>
          <a:p>
            <a:pPr>
              <a:lnSpc>
                <a:spcPct val="128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59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个字段能落到具体审计动作</a:t>
            </a:r>
          </a:p>
          <a:p>
            <a:pPr>
              <a:lnSpc>
                <a:spcPct val="128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异常不只是一个分数，而是一条线索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E10AB2D-0BCD-281A-FA66-58FC38A8646B}"/>
              </a:ext>
            </a:extLst>
          </p:cNvPr>
          <p:cNvSpPr/>
          <p:nvPr/>
        </p:nvSpPr>
        <p:spPr>
          <a:xfrm>
            <a:off x="4546600" y="4140200"/>
            <a:ext cx="3098800" cy="1016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7532C36A-B035-7477-029E-13E7BDF222FE}"/>
              </a:ext>
            </a:extLst>
          </p:cNvPr>
          <p:cNvSpPr txBox="1"/>
          <p:nvPr/>
        </p:nvSpPr>
        <p:spPr>
          <a:xfrm>
            <a:off x="4546600" y="4267200"/>
            <a:ext cx="30988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解释：金额 </a:t>
            </a: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审批 </a:t>
            </a: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发票 </a:t>
            </a: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供应商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850DC67B-EB29-E3C6-E011-3D95A5816E5A}"/>
              </a:ext>
            </a:extLst>
          </p:cNvPr>
          <p:cNvSpPr/>
          <p:nvPr/>
        </p:nvSpPr>
        <p:spPr>
          <a:xfrm>
            <a:off x="8128000" y="1676400"/>
            <a:ext cx="3556000" cy="33274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FFD59CD-1AAA-8243-7AFA-24E36346C259}"/>
              </a:ext>
            </a:extLst>
          </p:cNvPr>
          <p:cNvSpPr/>
          <p:nvPr/>
        </p:nvSpPr>
        <p:spPr>
          <a:xfrm>
            <a:off x="8128000" y="1676400"/>
            <a:ext cx="3556000" cy="88900"/>
          </a:xfrm>
          <a:prstGeom prst="rect">
            <a:avLst/>
          </a:prstGeom>
          <a:solidFill>
            <a:srgbClr val="27AE6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099A26F-A18C-DA79-674A-5A40AB08EC98}"/>
              </a:ext>
            </a:extLst>
          </p:cNvPr>
          <p:cNvSpPr txBox="1"/>
          <p:nvPr/>
        </p:nvSpPr>
        <p:spPr>
          <a:xfrm>
            <a:off x="8356600" y="19050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2400" b="1">
                <a:solidFill>
                  <a:srgbClr val="27AE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03</a:t>
            </a:r>
            <a:endParaRPr lang="zh-CN" altLang="en-US" sz="2400" b="1">
              <a:solidFill>
                <a:srgbClr val="27AE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ECF50165-CFEF-4CE7-9860-C3E007C34600}"/>
              </a:ext>
            </a:extLst>
          </p:cNvPr>
          <p:cNvSpPr txBox="1"/>
          <p:nvPr/>
        </p:nvSpPr>
        <p:spPr>
          <a:xfrm>
            <a:off x="8356600" y="2438400"/>
            <a:ext cx="30988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6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有规模可落地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2681B187-1D6C-02B9-D870-A3DFC6D1C552}"/>
              </a:ext>
            </a:extLst>
          </p:cNvPr>
          <p:cNvSpPr txBox="1"/>
          <p:nvPr/>
        </p:nvSpPr>
        <p:spPr>
          <a:xfrm>
            <a:off x="8356600" y="3022600"/>
            <a:ext cx="3098800" cy="60093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28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7,000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 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59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列，约 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3.7 MB</a:t>
            </a:r>
          </a:p>
          <a:p>
            <a:pPr>
              <a:lnSpc>
                <a:spcPct val="128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Isolation Forest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训练秒级</a:t>
            </a:r>
          </a:p>
          <a:p>
            <a:pPr>
              <a:lnSpc>
                <a:spcPct val="128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个人 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天可完成，不依赖 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GPU</a:t>
            </a:r>
            <a:endParaRPr lang="zh-CN" altLang="en-US" sz="1050">
              <a:solidFill>
                <a:srgbClr val="34495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3675DE9-1838-7F9C-3974-FB54DF33F2AE}"/>
              </a:ext>
            </a:extLst>
          </p:cNvPr>
          <p:cNvSpPr/>
          <p:nvPr/>
        </p:nvSpPr>
        <p:spPr>
          <a:xfrm>
            <a:off x="8356600" y="4140200"/>
            <a:ext cx="3098800" cy="1016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6E5196F-3F8D-8623-C2DB-A9251C5FEC3F}"/>
              </a:ext>
            </a:extLst>
          </p:cNvPr>
          <p:cNvSpPr txBox="1"/>
          <p:nvPr/>
        </p:nvSpPr>
        <p:spPr>
          <a:xfrm>
            <a:off x="8356600" y="4267200"/>
            <a:ext cx="30988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落地：</a:t>
            </a: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Top-K </a:t>
            </a: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名单 </a:t>
            </a: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人工核查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67D84245-5CF9-231A-21BC-4C0251095BB8}"/>
              </a:ext>
            </a:extLst>
          </p:cNvPr>
          <p:cNvSpPr/>
          <p:nvPr/>
        </p:nvSpPr>
        <p:spPr>
          <a:xfrm>
            <a:off x="508000" y="5308600"/>
            <a:ext cx="11176000" cy="787400"/>
          </a:xfrm>
          <a:prstGeom prst="roundRect">
            <a:avLst/>
          </a:prstGeom>
          <a:solidFill>
            <a:srgbClr val="EBF5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49CA31D-1FFE-8F7C-618D-E6B2A7445B1B}"/>
              </a:ext>
            </a:extLst>
          </p:cNvPr>
          <p:cNvSpPr txBox="1"/>
          <p:nvPr/>
        </p:nvSpPr>
        <p:spPr>
          <a:xfrm>
            <a:off x="787400" y="5461000"/>
            <a:ext cx="10541000" cy="2308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50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审计不是追求 </a:t>
            </a:r>
            <a:r>
              <a:rPr lang="en-US" altLang="zh-CN" sz="150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100% </a:t>
            </a:r>
            <a:r>
              <a:rPr lang="zh-CN" altLang="en-US" sz="150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准确，而是用有限人力优先核查高风险样本。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10BC862-5811-DCA2-E655-5AD7259D6540}"/>
              </a:ext>
            </a:extLst>
          </p:cNvPr>
          <p:cNvSpPr txBox="1"/>
          <p:nvPr/>
        </p:nvSpPr>
        <p:spPr>
          <a:xfrm>
            <a:off x="787400" y="5765800"/>
            <a:ext cx="105410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0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这正是 </a:t>
            </a:r>
            <a:r>
              <a:rPr lang="en-US" altLang="zh-CN" sz="100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Top-K </a:t>
            </a:r>
            <a:r>
              <a:rPr lang="zh-CN" altLang="en-US" sz="100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召回要解决的问题：先保证名单质量，再决定查多少。</a:t>
            </a:r>
          </a:p>
        </p:txBody>
      </p:sp>
    </p:spTree>
    <p:extLst>
      <p:ext uri="{BB962C8B-B14F-4D97-AF65-F5344CB8AC3E}">
        <p14:creationId xmlns:p14="http://schemas.microsoft.com/office/powerpoint/2010/main" val="68639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8E4D891-FCE3-8D93-705A-303C7D9AB544}"/>
              </a:ext>
            </a:extLst>
          </p:cNvPr>
          <p:cNvSpPr/>
          <p:nvPr/>
        </p:nvSpPr>
        <p:spPr>
          <a:xfrm>
            <a:off x="508000" y="381000"/>
            <a:ext cx="76200" cy="431800"/>
          </a:xfrm>
          <a:prstGeom prst="rect">
            <a:avLst/>
          </a:prstGeom>
          <a:solidFill>
            <a:srgbClr val="E67E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B72161F-CABE-79C8-6051-3CDE110174B1}"/>
              </a:ext>
            </a:extLst>
          </p:cNvPr>
          <p:cNvSpPr txBox="1"/>
          <p:nvPr/>
        </p:nvSpPr>
        <p:spPr>
          <a:xfrm>
            <a:off x="711200" y="304800"/>
            <a:ext cx="10922000" cy="35394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获取数据：先看清家底，再决定怎么洗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C5B68BC-F814-D54C-3859-14F16E136B24}"/>
              </a:ext>
            </a:extLst>
          </p:cNvPr>
          <p:cNvSpPr txBox="1"/>
          <p:nvPr/>
        </p:nvSpPr>
        <p:spPr>
          <a:xfrm>
            <a:off x="711200" y="9144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探查后修正：数据零缺失，无需填充；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Abnormal_Type / Risk_Class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是标签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标签派生列，建模剔除。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7CAF39C4-07F8-1F2F-BF1A-EB9754F6BEA4}"/>
              </a:ext>
            </a:extLst>
          </p:cNvPr>
          <p:cNvSpPr/>
          <p:nvPr/>
        </p:nvSpPr>
        <p:spPr>
          <a:xfrm>
            <a:off x="609600" y="1358900"/>
            <a:ext cx="10972800" cy="406400"/>
          </a:xfrm>
          <a:prstGeom prst="roundRect">
            <a:avLst/>
          </a:prstGeom>
          <a:solidFill>
            <a:srgbClr val="F4F6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5F2F169-DA30-BB79-56F6-F44E4820EF6A}"/>
              </a:ext>
            </a:extLst>
          </p:cNvPr>
          <p:cNvSpPr txBox="1"/>
          <p:nvPr/>
        </p:nvSpPr>
        <p:spPr>
          <a:xfrm>
            <a:off x="787400" y="1464719"/>
            <a:ext cx="10617200" cy="1923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7,000 </a:t>
            </a:r>
            <a:r>
              <a:rPr lang="zh-CN" altLang="en-US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  </a:t>
            </a:r>
            <a:r>
              <a:rPr lang="en-US" altLang="zh-CN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 59 </a:t>
            </a:r>
            <a:r>
              <a:rPr lang="zh-CN" altLang="en-US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列  </a:t>
            </a:r>
            <a:r>
              <a:rPr lang="en-US" altLang="zh-CN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 955 </a:t>
            </a:r>
            <a:r>
              <a:rPr lang="zh-CN" altLang="en-US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条异常（</a:t>
            </a:r>
            <a:r>
              <a:rPr lang="en-US" altLang="zh-CN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13.64%</a:t>
            </a:r>
            <a:r>
              <a:rPr lang="zh-CN" altLang="en-US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  </a:t>
            </a:r>
            <a:r>
              <a:rPr lang="en-US" altLang="zh-CN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 0 </a:t>
            </a:r>
            <a:r>
              <a:rPr lang="zh-CN" altLang="en-US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缺失  </a:t>
            </a:r>
            <a:r>
              <a:rPr lang="en-US" altLang="zh-CN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 11 </a:t>
            </a:r>
            <a:r>
              <a:rPr lang="zh-CN" altLang="en-US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组字段（含标签）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AC4C706-F407-254E-8E7D-A116E215D04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1905000"/>
            <a:ext cx="9753600" cy="457200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B58D5F1F-1C01-F476-A589-A43F55165315}"/>
              </a:ext>
            </a:extLst>
          </p:cNvPr>
          <p:cNvSpPr/>
          <p:nvPr/>
        </p:nvSpPr>
        <p:spPr>
          <a:xfrm>
            <a:off x="508000" y="6578600"/>
            <a:ext cx="11176000" cy="1270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ADAB4B8-239D-597D-87ED-4F1098FD6B92}"/>
              </a:ext>
            </a:extLst>
          </p:cNvPr>
          <p:cNvSpPr txBox="1"/>
          <p:nvPr/>
        </p:nvSpPr>
        <p:spPr>
          <a:xfrm>
            <a:off x="508000" y="6642100"/>
            <a:ext cx="5334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智慧审计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机器学习 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| 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期中实践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A8A0ABD-2ED9-A1C0-B8F9-B8222C941F4B}"/>
              </a:ext>
            </a:extLst>
          </p:cNvPr>
          <p:cNvSpPr txBox="1"/>
          <p:nvPr/>
        </p:nvSpPr>
        <p:spPr>
          <a:xfrm>
            <a:off x="10668000" y="6642100"/>
            <a:ext cx="1016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04 / 10</a:t>
            </a:r>
            <a:endParaRPr lang="zh-CN" altLang="en-US" sz="85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12085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2F8D8BF2-9CF7-896B-8A3F-FB1DAD497457}"/>
              </a:ext>
            </a:extLst>
          </p:cNvPr>
          <p:cNvSpPr/>
          <p:nvPr/>
        </p:nvSpPr>
        <p:spPr>
          <a:xfrm>
            <a:off x="508000" y="381000"/>
            <a:ext cx="76200" cy="431800"/>
          </a:xfrm>
          <a:prstGeom prst="rect">
            <a:avLst/>
          </a:prstGeom>
          <a:solidFill>
            <a:srgbClr val="E67E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12F62F2-DCEC-C094-D455-B32AAB9E3604}"/>
              </a:ext>
            </a:extLst>
          </p:cNvPr>
          <p:cNvSpPr txBox="1"/>
          <p:nvPr/>
        </p:nvSpPr>
        <p:spPr>
          <a:xfrm>
            <a:off x="711200" y="304800"/>
            <a:ext cx="10922000" cy="35394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清洗（一）：不删一行，把 </a:t>
            </a:r>
            <a:r>
              <a:rPr lang="en-US" altLang="zh-CN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59 </a:t>
            </a: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列整理成 </a:t>
            </a:r>
            <a:r>
              <a:rPr lang="en-US" altLang="zh-CN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115 </a:t>
            </a: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维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8CABE8B-1969-9708-3E85-F960D6A89346}"/>
              </a:ext>
            </a:extLst>
          </p:cNvPr>
          <p:cNvSpPr txBox="1"/>
          <p:nvPr/>
        </p:nvSpPr>
        <p:spPr>
          <a:xfrm>
            <a:off x="711200" y="9144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常量列、泄漏列、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ID/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名称列剔除；低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中基数类别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One-Hot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；城市不编码，保留省份。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4974BDA-212A-3220-3335-851A16BF7104}"/>
              </a:ext>
            </a:extLst>
          </p:cNvPr>
          <p:cNvSpPr/>
          <p:nvPr/>
        </p:nvSpPr>
        <p:spPr>
          <a:xfrm>
            <a:off x="609600" y="1358900"/>
            <a:ext cx="10972800" cy="406400"/>
          </a:xfrm>
          <a:prstGeom prst="roundRect">
            <a:avLst/>
          </a:prstGeom>
          <a:solidFill>
            <a:srgbClr val="F4F6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9C1F3D8-5DE9-CC1C-DFB0-933E143B7070}"/>
              </a:ext>
            </a:extLst>
          </p:cNvPr>
          <p:cNvSpPr txBox="1"/>
          <p:nvPr/>
        </p:nvSpPr>
        <p:spPr>
          <a:xfrm>
            <a:off x="787400" y="1464719"/>
            <a:ext cx="10617200" cy="1923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 </a:t>
            </a:r>
            <a:r>
              <a:rPr lang="zh-CN" altLang="en-US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行删除  </a:t>
            </a:r>
            <a:r>
              <a:rPr lang="en-US" altLang="zh-CN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 13 </a:t>
            </a:r>
            <a:r>
              <a:rPr lang="zh-CN" altLang="en-US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列剔除  </a:t>
            </a:r>
            <a:r>
              <a:rPr lang="en-US" altLang="zh-CN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 79 </a:t>
            </a:r>
            <a:r>
              <a:rPr lang="zh-CN" altLang="en-US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 </a:t>
            </a:r>
            <a:r>
              <a:rPr lang="en-US" altLang="zh-CN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One-Hot  ·  115 </a:t>
            </a:r>
            <a:r>
              <a:rPr lang="zh-CN" altLang="en-US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维 </a:t>
            </a:r>
            <a:r>
              <a:rPr lang="en-US" altLang="zh-CN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111 </a:t>
            </a:r>
            <a:r>
              <a:rPr lang="zh-CN" altLang="en-US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特征 </a:t>
            </a:r>
            <a:r>
              <a:rPr lang="en-US" altLang="zh-CN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+ 2 </a:t>
            </a:r>
            <a:r>
              <a:rPr lang="zh-CN" altLang="en-US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标识 </a:t>
            </a:r>
            <a:r>
              <a:rPr lang="en-US" altLang="zh-CN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+ 2 </a:t>
            </a:r>
            <a:r>
              <a:rPr lang="zh-CN" altLang="en-US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标签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0C575EF-AB6D-410B-2A80-E5F07B1F0B0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200" y="1905000"/>
            <a:ext cx="10248900" cy="4572000"/>
          </a:xfrm>
          <a:prstGeom prst="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7CEEF19C-2B2B-00B9-826F-55E216B2429E}"/>
              </a:ext>
            </a:extLst>
          </p:cNvPr>
          <p:cNvSpPr/>
          <p:nvPr/>
        </p:nvSpPr>
        <p:spPr>
          <a:xfrm>
            <a:off x="508000" y="6578600"/>
            <a:ext cx="11176000" cy="1270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E1E7531-9EDA-8D77-8264-A4D57146B9B4}"/>
              </a:ext>
            </a:extLst>
          </p:cNvPr>
          <p:cNvSpPr txBox="1"/>
          <p:nvPr/>
        </p:nvSpPr>
        <p:spPr>
          <a:xfrm>
            <a:off x="508000" y="6642100"/>
            <a:ext cx="5334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智慧审计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机器学习 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| 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期中实践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F5EB496-B1E3-1638-F5B2-60B496C3F844}"/>
              </a:ext>
            </a:extLst>
          </p:cNvPr>
          <p:cNvSpPr txBox="1"/>
          <p:nvPr/>
        </p:nvSpPr>
        <p:spPr>
          <a:xfrm>
            <a:off x="10668000" y="6642100"/>
            <a:ext cx="1016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05 / 10</a:t>
            </a:r>
            <a:endParaRPr lang="zh-CN" altLang="en-US" sz="85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109258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434CC859-B798-2314-A940-9D6180415F63}"/>
              </a:ext>
            </a:extLst>
          </p:cNvPr>
          <p:cNvSpPr/>
          <p:nvPr/>
        </p:nvSpPr>
        <p:spPr>
          <a:xfrm>
            <a:off x="508000" y="381000"/>
            <a:ext cx="76200" cy="431800"/>
          </a:xfrm>
          <a:prstGeom prst="rect">
            <a:avLst/>
          </a:prstGeom>
          <a:solidFill>
            <a:srgbClr val="E67E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8C353C8-94F9-4D1C-4E9F-58769C54670D}"/>
              </a:ext>
            </a:extLst>
          </p:cNvPr>
          <p:cNvSpPr txBox="1"/>
          <p:nvPr/>
        </p:nvSpPr>
        <p:spPr>
          <a:xfrm>
            <a:off x="711200" y="304800"/>
            <a:ext cx="10922000" cy="35394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清洗（二）：金额长尾不处理，异常分数会被极端值带偏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2496D5B-37AE-86F9-979C-9C703BB7B116}"/>
              </a:ext>
            </a:extLst>
          </p:cNvPr>
          <p:cNvSpPr txBox="1"/>
          <p:nvPr/>
        </p:nvSpPr>
        <p:spPr>
          <a:xfrm>
            <a:off x="711200" y="863600"/>
            <a:ext cx="109220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0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 </a:t>
            </a:r>
            <a:r>
              <a:rPr lang="en-US" altLang="zh-CN" sz="100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log1p </a:t>
            </a:r>
            <a:r>
              <a:rPr lang="zh-CN" altLang="en-US" sz="100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压缩量级，再 </a:t>
            </a:r>
            <a:r>
              <a:rPr lang="en-US" altLang="zh-CN" sz="100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z-score </a:t>
            </a:r>
            <a:r>
              <a:rPr lang="zh-CN" altLang="en-US" sz="100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标准化；</a:t>
            </a:r>
            <a:r>
              <a:rPr lang="en-US" altLang="zh-CN" sz="100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 </a:t>
            </a:r>
            <a:r>
              <a:rPr lang="zh-CN" altLang="en-US" sz="100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个金额</a:t>
            </a:r>
            <a:r>
              <a:rPr lang="en-US" altLang="zh-CN" sz="100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00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比率字段统一处理。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047C3A68-F9AC-7B7B-53C2-89AA75D69B85}"/>
              </a:ext>
            </a:extLst>
          </p:cNvPr>
          <p:cNvSpPr txBox="1"/>
          <p:nvPr/>
        </p:nvSpPr>
        <p:spPr>
          <a:xfrm>
            <a:off x="711200" y="1092200"/>
            <a:ext cx="109220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关键发现：</a:t>
            </a:r>
            <a:r>
              <a:rPr lang="en-US" altLang="zh-CN" sz="10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131 </a:t>
            </a:r>
            <a:r>
              <a:rPr lang="zh-CN" altLang="en-US" sz="10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笔金额恰好 </a:t>
            </a:r>
            <a:r>
              <a:rPr lang="en-US" altLang="zh-CN" sz="10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500,000 </a:t>
            </a:r>
            <a:r>
              <a:rPr lang="zh-CN" altLang="en-US" sz="10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元，全部为金额突增异常</a:t>
            </a:r>
            <a:r>
              <a:rPr lang="en-US" altLang="zh-CN" sz="10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——log1p </a:t>
            </a:r>
            <a:r>
              <a:rPr lang="zh-CN" altLang="en-US" sz="10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后形成 </a:t>
            </a:r>
            <a:r>
              <a:rPr lang="en-US" altLang="zh-CN" sz="10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13.1 </a:t>
            </a:r>
            <a:r>
              <a:rPr lang="zh-CN" altLang="en-US" sz="10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处尖峰。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8B3BC2CA-DC54-E1E0-B4CA-DDA8D47132C4}"/>
              </a:ext>
            </a:extLst>
          </p:cNvPr>
          <p:cNvSpPr/>
          <p:nvPr/>
        </p:nvSpPr>
        <p:spPr>
          <a:xfrm>
            <a:off x="609600" y="1358900"/>
            <a:ext cx="10972800" cy="406400"/>
          </a:xfrm>
          <a:prstGeom prst="roundRect">
            <a:avLst/>
          </a:prstGeom>
          <a:solidFill>
            <a:srgbClr val="F4F6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B30245C-3CE9-DE5E-F0E9-1D5EA4889792}"/>
              </a:ext>
            </a:extLst>
          </p:cNvPr>
          <p:cNvSpPr txBox="1"/>
          <p:nvPr/>
        </p:nvSpPr>
        <p:spPr>
          <a:xfrm>
            <a:off x="787400" y="1464719"/>
            <a:ext cx="10617200" cy="1923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偏度 </a:t>
            </a:r>
            <a:r>
              <a:rPr lang="en-US" altLang="zh-CN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10.70 → 0.52  ·  4 </a:t>
            </a:r>
            <a:r>
              <a:rPr lang="zh-CN" altLang="en-US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个字段  </a:t>
            </a:r>
            <a:r>
              <a:rPr lang="en-US" altLang="zh-CN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 9 </a:t>
            </a:r>
            <a:r>
              <a:rPr lang="zh-CN" altLang="en-US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项质量检查通过  </a:t>
            </a:r>
            <a:r>
              <a:rPr lang="en-US" altLang="zh-CN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 7,000 </a:t>
            </a:r>
            <a:r>
              <a:rPr lang="zh-CN" altLang="en-US" sz="12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行不变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386081C4-748D-98A3-16F2-D092CBC7498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" y="1905000"/>
            <a:ext cx="10299700" cy="4572000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210077C7-A5F1-0094-C8E9-AE2433D10187}"/>
              </a:ext>
            </a:extLst>
          </p:cNvPr>
          <p:cNvSpPr/>
          <p:nvPr/>
        </p:nvSpPr>
        <p:spPr>
          <a:xfrm>
            <a:off x="508000" y="6578600"/>
            <a:ext cx="11176000" cy="1270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487D9D1-AB77-F415-4765-C7CC7E9256F5}"/>
              </a:ext>
            </a:extLst>
          </p:cNvPr>
          <p:cNvSpPr txBox="1"/>
          <p:nvPr/>
        </p:nvSpPr>
        <p:spPr>
          <a:xfrm>
            <a:off x="508000" y="6642100"/>
            <a:ext cx="5334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智慧审计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机器学习 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| 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期中实践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305335A-A4A4-E048-9643-344542914868}"/>
              </a:ext>
            </a:extLst>
          </p:cNvPr>
          <p:cNvSpPr txBox="1"/>
          <p:nvPr/>
        </p:nvSpPr>
        <p:spPr>
          <a:xfrm>
            <a:off x="10668000" y="6642100"/>
            <a:ext cx="1016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06 / 10</a:t>
            </a:r>
            <a:endParaRPr lang="zh-CN" altLang="en-US" sz="85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684375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1B561C7-7E7C-C57E-2CDD-77BDBA1A0C4F}"/>
              </a:ext>
            </a:extLst>
          </p:cNvPr>
          <p:cNvSpPr/>
          <p:nvPr/>
        </p:nvSpPr>
        <p:spPr>
          <a:xfrm>
            <a:off x="508000" y="381000"/>
            <a:ext cx="76200" cy="431800"/>
          </a:xfrm>
          <a:prstGeom prst="rect">
            <a:avLst/>
          </a:prstGeom>
          <a:solidFill>
            <a:srgbClr val="E67E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346CBBD-6FE6-2B32-BD83-E697652B4A9A}"/>
              </a:ext>
            </a:extLst>
          </p:cNvPr>
          <p:cNvSpPr txBox="1"/>
          <p:nvPr/>
        </p:nvSpPr>
        <p:spPr>
          <a:xfrm>
            <a:off x="711200" y="304800"/>
            <a:ext cx="10922000" cy="35394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分析（一）：</a:t>
            </a:r>
            <a:r>
              <a:rPr lang="en-US" altLang="zh-CN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Benford </a:t>
            </a: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基线</a:t>
            </a:r>
            <a:r>
              <a:rPr lang="en-US" altLang="zh-CN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整体正常，异常组露馅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BA349A8-A749-59D5-B486-686A0DD69C42}"/>
              </a:ext>
            </a:extLst>
          </p:cNvPr>
          <p:cNvSpPr txBox="1"/>
          <p:nvPr/>
        </p:nvSpPr>
        <p:spPr>
          <a:xfrm>
            <a:off x="711200" y="9144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整体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MAD 0.00405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（高度符合）；正常组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0.00325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；异常组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0.03633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（明显不符合）。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86361C0-0A65-C455-41DB-67439DB60179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200" y="1803400"/>
            <a:ext cx="10248900" cy="463550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943C0E1-C21C-7526-3302-A039431433CE}"/>
              </a:ext>
            </a:extLst>
          </p:cNvPr>
          <p:cNvSpPr/>
          <p:nvPr/>
        </p:nvSpPr>
        <p:spPr>
          <a:xfrm>
            <a:off x="508000" y="6578600"/>
            <a:ext cx="11176000" cy="1270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F4D31D6-1978-DA7D-909C-ED74E673211F}"/>
              </a:ext>
            </a:extLst>
          </p:cNvPr>
          <p:cNvSpPr txBox="1"/>
          <p:nvPr/>
        </p:nvSpPr>
        <p:spPr>
          <a:xfrm>
            <a:off x="508000" y="6642100"/>
            <a:ext cx="5334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智慧审计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机器学习 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| 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期中实践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4AA9C02-8ECB-2BF7-9BD6-C5697E88A0E2}"/>
              </a:ext>
            </a:extLst>
          </p:cNvPr>
          <p:cNvSpPr txBox="1"/>
          <p:nvPr/>
        </p:nvSpPr>
        <p:spPr>
          <a:xfrm>
            <a:off x="10668000" y="6642100"/>
            <a:ext cx="1016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07 / 10</a:t>
            </a:r>
            <a:endParaRPr lang="zh-CN" altLang="en-US" sz="85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237915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0182E1A-8280-99CF-2B44-460C2CA7B643}"/>
              </a:ext>
            </a:extLst>
          </p:cNvPr>
          <p:cNvSpPr/>
          <p:nvPr/>
        </p:nvSpPr>
        <p:spPr>
          <a:xfrm>
            <a:off x="508000" y="381000"/>
            <a:ext cx="76200" cy="431800"/>
          </a:xfrm>
          <a:prstGeom prst="rect">
            <a:avLst/>
          </a:prstGeom>
          <a:solidFill>
            <a:srgbClr val="E67E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EE0CECF-05FA-F1C8-CB9A-CDC3218D6C38}"/>
              </a:ext>
            </a:extLst>
          </p:cNvPr>
          <p:cNvSpPr txBox="1"/>
          <p:nvPr/>
        </p:nvSpPr>
        <p:spPr>
          <a:xfrm>
            <a:off x="711200" y="304800"/>
            <a:ext cx="10922000" cy="35394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分析（二）：模型把异常排在前面，</a:t>
            </a:r>
            <a:r>
              <a:rPr lang="en-US" altLang="zh-CN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Top-K </a:t>
            </a: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决定查多少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1DE28D3-6A87-9D5D-CD2F-A573C0068355}"/>
              </a:ext>
            </a:extLst>
          </p:cNvPr>
          <p:cNvSpPr txBox="1"/>
          <p:nvPr/>
        </p:nvSpPr>
        <p:spPr>
          <a:xfrm>
            <a:off x="711200" y="9144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contamination=0.02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对应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140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条审计容量；分数排序不变，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可按人力调整。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055B2368-3D35-16B4-27B0-383F5F9E5B0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0" y="1803400"/>
            <a:ext cx="10325100" cy="463550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E9E7A71D-C882-FDC6-2C72-76CCB2798856}"/>
              </a:ext>
            </a:extLst>
          </p:cNvPr>
          <p:cNvSpPr/>
          <p:nvPr/>
        </p:nvSpPr>
        <p:spPr>
          <a:xfrm>
            <a:off x="508000" y="6578600"/>
            <a:ext cx="11176000" cy="1270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509018A-95AE-C30B-A0D0-8FD72E8D66DF}"/>
              </a:ext>
            </a:extLst>
          </p:cNvPr>
          <p:cNvSpPr txBox="1"/>
          <p:nvPr/>
        </p:nvSpPr>
        <p:spPr>
          <a:xfrm>
            <a:off x="508000" y="6642100"/>
            <a:ext cx="5334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智慧审计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机器学习 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| 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期中实践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60649FF-C2C4-1E49-E169-5987FAE6FB0F}"/>
              </a:ext>
            </a:extLst>
          </p:cNvPr>
          <p:cNvSpPr txBox="1"/>
          <p:nvPr/>
        </p:nvSpPr>
        <p:spPr>
          <a:xfrm>
            <a:off x="10668000" y="6642100"/>
            <a:ext cx="1016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08 / 10</a:t>
            </a:r>
            <a:endParaRPr lang="zh-CN" altLang="en-US" sz="85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70799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01098C6-F7AF-1BF3-8967-44C83A3BD8B9}"/>
              </a:ext>
            </a:extLst>
          </p:cNvPr>
          <p:cNvSpPr/>
          <p:nvPr/>
        </p:nvSpPr>
        <p:spPr>
          <a:xfrm>
            <a:off x="508000" y="381000"/>
            <a:ext cx="76200" cy="431800"/>
          </a:xfrm>
          <a:prstGeom prst="rect">
            <a:avLst/>
          </a:prstGeom>
          <a:solidFill>
            <a:srgbClr val="E67E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8842B14-6D59-9C97-63C6-276559C6ED5C}"/>
              </a:ext>
            </a:extLst>
          </p:cNvPr>
          <p:cNvSpPr txBox="1"/>
          <p:nvPr/>
        </p:nvSpPr>
        <p:spPr>
          <a:xfrm>
            <a:off x="711200" y="304800"/>
            <a:ext cx="10922000" cy="35394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理解与修正：规则和模型不是二选一，而是互补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0517D60-8782-EF3B-D84A-7097C3A06525}"/>
              </a:ext>
            </a:extLst>
          </p:cNvPr>
          <p:cNvSpPr txBox="1"/>
          <p:nvPr/>
        </p:nvSpPr>
        <p:spPr>
          <a:xfrm>
            <a:off x="711200" y="914400"/>
            <a:ext cx="10922000" cy="32900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仅模型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122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条（异常率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91.8%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）；同时命中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18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条（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94.4%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）→ 低重合、高互补</a:t>
            </a:r>
          </a:p>
          <a:p>
            <a:pPr>
              <a:lnSpc>
                <a:spcPct val="105000"/>
              </a:lnSpc>
            </a:pP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案例信号：审批延迟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339 min +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发票匹配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0.44  · 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供应商风险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0.86  · 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金额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阈值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97.4%</a:t>
            </a:r>
            <a:endParaRPr lang="zh-CN" altLang="en-US" sz="105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6DFA440-09E0-31E9-87AC-16A3345B27D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100" y="1752600"/>
            <a:ext cx="9321800" cy="4191000"/>
          </a:xfrm>
          <a:prstGeom prst="rect">
            <a:avLst/>
          </a:prstGeom>
        </p:spPr>
      </p:pic>
      <p:sp>
        <p:nvSpPr>
          <p:cNvPr id="7" name="矩形: 圆角 6">
            <a:extLst>
              <a:ext uri="{FF2B5EF4-FFF2-40B4-BE49-F238E27FC236}">
                <a16:creationId xmlns:a16="http://schemas.microsoft.com/office/drawing/2014/main" id="{C6CEB59D-9AA9-8C23-7059-265ACCEB29B2}"/>
              </a:ext>
            </a:extLst>
          </p:cNvPr>
          <p:cNvSpPr/>
          <p:nvPr/>
        </p:nvSpPr>
        <p:spPr>
          <a:xfrm>
            <a:off x="508000" y="6070600"/>
            <a:ext cx="11176000" cy="406400"/>
          </a:xfrm>
          <a:prstGeom prst="roundRect">
            <a:avLst/>
          </a:prstGeom>
          <a:solidFill>
            <a:srgbClr val="FDEBD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E9D3AC5-B09B-BAEA-013D-7DCE159820D8}"/>
              </a:ext>
            </a:extLst>
          </p:cNvPr>
          <p:cNvSpPr txBox="1"/>
          <p:nvPr/>
        </p:nvSpPr>
        <p:spPr>
          <a:xfrm>
            <a:off x="736600" y="6146800"/>
            <a:ext cx="10718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 b="1">
                <a:solidFill>
                  <a:srgbClr val="9351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建议流程：</a:t>
            </a:r>
            <a:r>
              <a:rPr lang="en-US" altLang="zh-CN" sz="1050" b="1">
                <a:solidFill>
                  <a:srgbClr val="9351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Benford </a:t>
            </a:r>
            <a:r>
              <a:rPr lang="zh-CN" altLang="en-US" sz="1050" b="1">
                <a:solidFill>
                  <a:srgbClr val="9351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初筛（宽口径）→ 模型排序（高精度）→ 人工核查（</a:t>
            </a:r>
            <a:r>
              <a:rPr lang="en-US" altLang="zh-CN" sz="1050" b="1">
                <a:solidFill>
                  <a:srgbClr val="9351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18 </a:t>
            </a:r>
            <a:r>
              <a:rPr lang="zh-CN" altLang="en-US" sz="1050" b="1">
                <a:solidFill>
                  <a:srgbClr val="9351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条双命中优先）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E0294D1-A8D1-3096-F9EA-0D0E667C4519}"/>
              </a:ext>
            </a:extLst>
          </p:cNvPr>
          <p:cNvSpPr/>
          <p:nvPr/>
        </p:nvSpPr>
        <p:spPr>
          <a:xfrm>
            <a:off x="508000" y="6578600"/>
            <a:ext cx="11176000" cy="1270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BD527EA-1D7D-E2A1-A8FB-B0300A265FD9}"/>
              </a:ext>
            </a:extLst>
          </p:cNvPr>
          <p:cNvSpPr txBox="1"/>
          <p:nvPr/>
        </p:nvSpPr>
        <p:spPr>
          <a:xfrm>
            <a:off x="508000" y="6642100"/>
            <a:ext cx="5334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智慧审计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机器学习 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| 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期中实践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564C7EAF-6913-C000-F9FD-8ABD10B18A45}"/>
              </a:ext>
            </a:extLst>
          </p:cNvPr>
          <p:cNvSpPr txBox="1"/>
          <p:nvPr/>
        </p:nvSpPr>
        <p:spPr>
          <a:xfrm>
            <a:off x="10668000" y="6642100"/>
            <a:ext cx="1016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09 / 10</a:t>
            </a:r>
            <a:endParaRPr lang="zh-CN" altLang="en-US" sz="85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3020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E53AE8F-7627-E33E-51F0-A398618F426E}"/>
              </a:ext>
            </a:extLst>
          </p:cNvPr>
          <p:cNvSpPr/>
          <p:nvPr/>
        </p:nvSpPr>
        <p:spPr>
          <a:xfrm>
            <a:off x="508000" y="381000"/>
            <a:ext cx="76200" cy="431800"/>
          </a:xfrm>
          <a:prstGeom prst="rect">
            <a:avLst/>
          </a:prstGeom>
          <a:solidFill>
            <a:srgbClr val="E67E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E4E47B2-ECBC-437D-F68F-F521024B3025}"/>
              </a:ext>
            </a:extLst>
          </p:cNvPr>
          <p:cNvSpPr txBox="1"/>
          <p:nvPr/>
        </p:nvSpPr>
        <p:spPr>
          <a:xfrm>
            <a:off x="711200" y="304800"/>
            <a:ext cx="10922000" cy="35394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收束：</a:t>
            </a:r>
            <a:r>
              <a:rPr lang="en-US" altLang="zh-CN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2% </a:t>
            </a: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审计容量下，</a:t>
            </a:r>
            <a:r>
              <a:rPr lang="en-US" altLang="zh-CN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Top-140 </a:t>
            </a: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精确率 </a:t>
            </a:r>
            <a:r>
              <a:rPr lang="en-US" altLang="zh-CN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92.1%</a:t>
            </a:r>
            <a:endParaRPr lang="zh-CN" altLang="en-US" sz="2300" b="1">
              <a:solidFill>
                <a:srgbClr val="1B263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8F61C73-5C7D-883E-AF29-8DB811547E7B}"/>
              </a:ext>
            </a:extLst>
          </p:cNvPr>
          <p:cNvSpPr txBox="1"/>
          <p:nvPr/>
        </p:nvSpPr>
        <p:spPr>
          <a:xfrm>
            <a:off x="711200" y="9144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7/8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类异常；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Benford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与模型低重合、高互补；跨省不匹配是短板。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3DADA59-84F7-DE88-A196-BB5AE0BF84D9}"/>
              </a:ext>
            </a:extLst>
          </p:cNvPr>
          <p:cNvSpPr/>
          <p:nvPr/>
        </p:nvSpPr>
        <p:spPr>
          <a:xfrm>
            <a:off x="508000" y="1600200"/>
            <a:ext cx="3556000" cy="2667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239AA0A-2B72-C59B-7017-E32146DB4393}"/>
              </a:ext>
            </a:extLst>
          </p:cNvPr>
          <p:cNvSpPr/>
          <p:nvPr/>
        </p:nvSpPr>
        <p:spPr>
          <a:xfrm>
            <a:off x="508000" y="1600200"/>
            <a:ext cx="3556000" cy="88900"/>
          </a:xfrm>
          <a:prstGeom prst="rect">
            <a:avLst/>
          </a:prstGeom>
          <a:solidFill>
            <a:srgbClr val="2E86C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0D3A2C-FDC6-E5C8-01AC-D8BB6D5565A3}"/>
              </a:ext>
            </a:extLst>
          </p:cNvPr>
          <p:cNvSpPr txBox="1"/>
          <p:nvPr/>
        </p:nvSpPr>
        <p:spPr>
          <a:xfrm>
            <a:off x="736600" y="1854200"/>
            <a:ext cx="30988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700" b="1">
                <a:solidFill>
                  <a:srgbClr val="2E86C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数据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D73BDC7-D145-9522-A596-06FE0E76C811}"/>
              </a:ext>
            </a:extLst>
          </p:cNvPr>
          <p:cNvSpPr txBox="1"/>
          <p:nvPr/>
        </p:nvSpPr>
        <p:spPr>
          <a:xfrm>
            <a:off x="736600" y="2463800"/>
            <a:ext cx="3098800" cy="63196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35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7,000 × 59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，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缺失</a:t>
            </a:r>
          </a:p>
          <a:p>
            <a:pPr>
              <a:lnSpc>
                <a:spcPct val="135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59 → 115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维，不删一行</a:t>
            </a:r>
          </a:p>
          <a:p>
            <a:pPr>
              <a:lnSpc>
                <a:spcPct val="135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955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条异常，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6.33 : 1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不平衡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D7C3721-AF45-6894-C550-B7F14F752402}"/>
              </a:ext>
            </a:extLst>
          </p:cNvPr>
          <p:cNvSpPr/>
          <p:nvPr/>
        </p:nvSpPr>
        <p:spPr>
          <a:xfrm>
            <a:off x="736600" y="3657600"/>
            <a:ext cx="3098800" cy="1016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76E1D2A-AF47-23E2-51A1-F4443C84124F}"/>
              </a:ext>
            </a:extLst>
          </p:cNvPr>
          <p:cNvSpPr txBox="1"/>
          <p:nvPr/>
        </p:nvSpPr>
        <p:spPr>
          <a:xfrm>
            <a:off x="736600" y="3784600"/>
            <a:ext cx="3098800" cy="13542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88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→ audit_clean.csv</a:t>
            </a:r>
            <a:endParaRPr lang="zh-CN" altLang="en-US" sz="88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2BD9D78-1D72-C14D-A0D5-3CFE2FA14CEF}"/>
              </a:ext>
            </a:extLst>
          </p:cNvPr>
          <p:cNvSpPr/>
          <p:nvPr/>
        </p:nvSpPr>
        <p:spPr>
          <a:xfrm>
            <a:off x="4318000" y="1600200"/>
            <a:ext cx="3556000" cy="2667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2C8D722-EE2B-4FD2-D533-2BF7B09B05B6}"/>
              </a:ext>
            </a:extLst>
          </p:cNvPr>
          <p:cNvSpPr/>
          <p:nvPr/>
        </p:nvSpPr>
        <p:spPr>
          <a:xfrm>
            <a:off x="4318000" y="1600200"/>
            <a:ext cx="3556000" cy="88900"/>
          </a:xfrm>
          <a:prstGeom prst="rect">
            <a:avLst/>
          </a:prstGeom>
          <a:solidFill>
            <a:srgbClr val="E67E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124B429-2DC4-9CE6-3FE4-360351238472}"/>
              </a:ext>
            </a:extLst>
          </p:cNvPr>
          <p:cNvSpPr txBox="1"/>
          <p:nvPr/>
        </p:nvSpPr>
        <p:spPr>
          <a:xfrm>
            <a:off x="4546600" y="1854200"/>
            <a:ext cx="30988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7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方法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1EE3393-BE79-29AC-BF73-F537F4307072}"/>
              </a:ext>
            </a:extLst>
          </p:cNvPr>
          <p:cNvSpPr txBox="1"/>
          <p:nvPr/>
        </p:nvSpPr>
        <p:spPr>
          <a:xfrm>
            <a:off x="4546600" y="2463800"/>
            <a:ext cx="3098800" cy="63196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35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Benford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看整体分布</a:t>
            </a:r>
          </a:p>
          <a:p>
            <a:pPr>
              <a:lnSpc>
                <a:spcPct val="135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Isolation Forest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看多维组合</a:t>
            </a:r>
          </a:p>
          <a:p>
            <a:pPr>
              <a:lnSpc>
                <a:spcPct val="135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规则 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模型 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2×2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交叉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89B57F7-1F67-1274-B860-618551F54063}"/>
              </a:ext>
            </a:extLst>
          </p:cNvPr>
          <p:cNvSpPr/>
          <p:nvPr/>
        </p:nvSpPr>
        <p:spPr>
          <a:xfrm>
            <a:off x="4546600" y="3657600"/>
            <a:ext cx="3098800" cy="1016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2DBB3D9-419C-0095-7A43-BE5B2ED01428}"/>
              </a:ext>
            </a:extLst>
          </p:cNvPr>
          <p:cNvSpPr txBox="1"/>
          <p:nvPr/>
        </p:nvSpPr>
        <p:spPr>
          <a:xfrm>
            <a:off x="4546600" y="3784600"/>
            <a:ext cx="3098800" cy="13542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88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→ scores / flags</a:t>
            </a:r>
            <a:endParaRPr lang="zh-CN" altLang="en-US" sz="88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A310DD7B-6328-F424-7D78-0DF45CD6043C}"/>
              </a:ext>
            </a:extLst>
          </p:cNvPr>
          <p:cNvSpPr/>
          <p:nvPr/>
        </p:nvSpPr>
        <p:spPr>
          <a:xfrm>
            <a:off x="8128000" y="1600200"/>
            <a:ext cx="3556000" cy="2667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5C1101F-CF6D-92F2-EDA4-65D81D24797E}"/>
              </a:ext>
            </a:extLst>
          </p:cNvPr>
          <p:cNvSpPr/>
          <p:nvPr/>
        </p:nvSpPr>
        <p:spPr>
          <a:xfrm>
            <a:off x="8128000" y="1600200"/>
            <a:ext cx="3556000" cy="88900"/>
          </a:xfrm>
          <a:prstGeom prst="rect">
            <a:avLst/>
          </a:prstGeom>
          <a:solidFill>
            <a:srgbClr val="27AE6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DF0F45E-2C92-ECBF-FE39-AD3096AB8317}"/>
              </a:ext>
            </a:extLst>
          </p:cNvPr>
          <p:cNvSpPr txBox="1"/>
          <p:nvPr/>
        </p:nvSpPr>
        <p:spPr>
          <a:xfrm>
            <a:off x="8356600" y="1854200"/>
            <a:ext cx="3098800" cy="26161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700" b="1">
                <a:solidFill>
                  <a:srgbClr val="27AE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结果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1BE599E-F5C4-86CD-44D8-4258ECD3842D}"/>
              </a:ext>
            </a:extLst>
          </p:cNvPr>
          <p:cNvSpPr txBox="1"/>
          <p:nvPr/>
        </p:nvSpPr>
        <p:spPr>
          <a:xfrm>
            <a:off x="8356600" y="2463800"/>
            <a:ext cx="3098800" cy="63196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35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Top-140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精确率 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92.1%</a:t>
            </a:r>
          </a:p>
          <a:p>
            <a:pPr>
              <a:lnSpc>
                <a:spcPct val="135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 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 / 8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类异常</a:t>
            </a:r>
          </a:p>
          <a:p>
            <a:pPr>
              <a:lnSpc>
                <a:spcPct val="135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3 </a:t>
            </a:r>
            <a:r>
              <a:rPr lang="zh-CN" altLang="en-US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条可解释案例，假阳性 </a:t>
            </a: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7.9%</a:t>
            </a:r>
            <a:endParaRPr lang="zh-CN" altLang="en-US" sz="1050">
              <a:solidFill>
                <a:srgbClr val="34495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8B53499-BFA4-0DB4-6E68-302CCF890466}"/>
              </a:ext>
            </a:extLst>
          </p:cNvPr>
          <p:cNvSpPr/>
          <p:nvPr/>
        </p:nvSpPr>
        <p:spPr>
          <a:xfrm>
            <a:off x="8356600" y="3657600"/>
            <a:ext cx="3098800" cy="1016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27A0DA7-B4A6-EB23-250F-5B39A4519946}"/>
              </a:ext>
            </a:extLst>
          </p:cNvPr>
          <p:cNvSpPr txBox="1"/>
          <p:nvPr/>
        </p:nvSpPr>
        <p:spPr>
          <a:xfrm>
            <a:off x="8356600" y="3784600"/>
            <a:ext cx="3098800" cy="13542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88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→ top140_audit_list.csv</a:t>
            </a:r>
            <a:endParaRPr lang="zh-CN" altLang="en-US" sz="88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D06EC6DB-3DF3-F111-7328-B8A22143FC30}"/>
              </a:ext>
            </a:extLst>
          </p:cNvPr>
          <p:cNvSpPr/>
          <p:nvPr/>
        </p:nvSpPr>
        <p:spPr>
          <a:xfrm>
            <a:off x="508000" y="4495800"/>
            <a:ext cx="11176000" cy="1371600"/>
          </a:xfrm>
          <a:prstGeom prst="roundRect">
            <a:avLst/>
          </a:prstGeom>
          <a:solidFill>
            <a:srgbClr val="F4F6F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0FFDC93-3A3E-51C5-60DA-0B79FF6F4F38}"/>
              </a:ext>
            </a:extLst>
          </p:cNvPr>
          <p:cNvSpPr txBox="1"/>
          <p:nvPr/>
        </p:nvSpPr>
        <p:spPr>
          <a:xfrm>
            <a:off x="762000" y="4648200"/>
            <a:ext cx="3810000" cy="184666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2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局限与下一步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FFD9AEAF-5EF4-9FC2-02DD-25990F457543}"/>
              </a:ext>
            </a:extLst>
          </p:cNvPr>
          <p:cNvSpPr txBox="1"/>
          <p:nvPr/>
        </p:nvSpPr>
        <p:spPr>
          <a:xfrm>
            <a:off x="762000" y="4978400"/>
            <a:ext cx="10668000" cy="51924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18000"/>
              </a:lnSpc>
            </a:pPr>
            <a:r>
              <a:rPr lang="en-US" altLang="zh-CN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</a:t>
            </a:r>
            <a:r>
              <a:rPr lang="zh-CN" altLang="en-US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无监督：标签只用于评估；</a:t>
            </a:r>
            <a:r>
              <a:rPr lang="en-US" altLang="zh-CN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contamination=0.02 </a:t>
            </a:r>
            <a:r>
              <a:rPr lang="zh-CN" altLang="en-US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是审计容量假设，不是真实异常率。</a:t>
            </a:r>
          </a:p>
          <a:p>
            <a:pPr>
              <a:lnSpc>
                <a:spcPct val="118000"/>
              </a:lnSpc>
            </a:pPr>
            <a:r>
              <a:rPr lang="en-US" altLang="zh-CN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</a:t>
            </a:r>
            <a:r>
              <a:rPr lang="zh-CN" altLang="en-US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短板：</a:t>
            </a:r>
            <a:r>
              <a:rPr lang="en-US" altLang="zh-CN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Cross_Province_Mismatch 115 </a:t>
            </a:r>
            <a:r>
              <a:rPr lang="zh-CN" altLang="en-US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条未进入 </a:t>
            </a:r>
            <a:r>
              <a:rPr lang="en-US" altLang="zh-CN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Top-140</a:t>
            </a:r>
            <a:r>
              <a:rPr lang="zh-CN" altLang="en-US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；可补图特征或有监督模型。</a:t>
            </a:r>
          </a:p>
          <a:p>
            <a:pPr>
              <a:lnSpc>
                <a:spcPct val="118000"/>
              </a:lnSpc>
            </a:pPr>
            <a:r>
              <a:rPr lang="en-US" altLang="zh-CN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• </a:t>
            </a:r>
            <a:r>
              <a:rPr lang="zh-CN" altLang="en-US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下一步：接入真实凭证</a:t>
            </a:r>
            <a:r>
              <a:rPr lang="en-US" altLang="zh-CN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流水，把 </a:t>
            </a:r>
            <a:r>
              <a:rPr lang="en-US" altLang="zh-CN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Top-140 </a:t>
            </a:r>
            <a:r>
              <a:rPr lang="zh-CN" altLang="en-US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名单做成审计工作台。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6B2355A1-F83E-BF2B-89C7-DC26DCD16474}"/>
              </a:ext>
            </a:extLst>
          </p:cNvPr>
          <p:cNvSpPr/>
          <p:nvPr/>
        </p:nvSpPr>
        <p:spPr>
          <a:xfrm>
            <a:off x="508000" y="6045200"/>
            <a:ext cx="11176000" cy="381000"/>
          </a:xfrm>
          <a:prstGeom prst="roundRect">
            <a:avLst/>
          </a:prstGeom>
          <a:solidFill>
            <a:srgbClr val="EBF5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36329AE9-B838-552D-749D-728A172AFB29}"/>
              </a:ext>
            </a:extLst>
          </p:cNvPr>
          <p:cNvSpPr txBox="1"/>
          <p:nvPr/>
        </p:nvSpPr>
        <p:spPr>
          <a:xfrm>
            <a:off x="711200" y="6121400"/>
            <a:ext cx="107696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lang="zh-CN" altLang="en-US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结论：无监督筛查能有效缩小核查范围，但最终判断仍需人工凭证核查。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DD53D35-8535-19A8-AE18-104E5BE1C289}"/>
              </a:ext>
            </a:extLst>
          </p:cNvPr>
          <p:cNvSpPr/>
          <p:nvPr/>
        </p:nvSpPr>
        <p:spPr>
          <a:xfrm>
            <a:off x="508000" y="6578600"/>
            <a:ext cx="11176000" cy="1270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320F6094-23AA-22F2-E60A-8A501278CCA7}"/>
              </a:ext>
            </a:extLst>
          </p:cNvPr>
          <p:cNvSpPr txBox="1"/>
          <p:nvPr/>
        </p:nvSpPr>
        <p:spPr>
          <a:xfrm>
            <a:off x="508000" y="6642100"/>
            <a:ext cx="5334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智慧审计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机器学习 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| 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期中实践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E47B80F-0D43-8669-F262-3A7F75A05CC5}"/>
              </a:ext>
            </a:extLst>
          </p:cNvPr>
          <p:cNvSpPr txBox="1"/>
          <p:nvPr/>
        </p:nvSpPr>
        <p:spPr>
          <a:xfrm>
            <a:off x="10668000" y="6642100"/>
            <a:ext cx="1016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10 / 10</a:t>
            </a:r>
            <a:endParaRPr lang="zh-CN" altLang="en-US" sz="85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933345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1C1CED5-BFC6-C353-E751-95CF0071AF8F}"/>
              </a:ext>
            </a:extLst>
          </p:cNvPr>
          <p:cNvSpPr/>
          <p:nvPr/>
        </p:nvSpPr>
        <p:spPr>
          <a:xfrm>
            <a:off x="508000" y="381000"/>
            <a:ext cx="76200" cy="431800"/>
          </a:xfrm>
          <a:prstGeom prst="rect">
            <a:avLst/>
          </a:prstGeom>
          <a:solidFill>
            <a:srgbClr val="E67E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B9B4D2D-A254-5341-5E02-6A90F97E57E5}"/>
              </a:ext>
            </a:extLst>
          </p:cNvPr>
          <p:cNvSpPr txBox="1"/>
          <p:nvPr/>
        </p:nvSpPr>
        <p:spPr>
          <a:xfrm>
            <a:off x="711200" y="304800"/>
            <a:ext cx="10922000" cy="35394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附录 </a:t>
            </a:r>
            <a:r>
              <a:rPr lang="en-US" altLang="zh-CN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A-1</a:t>
            </a: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（备用）：</a:t>
            </a:r>
            <a:r>
              <a:rPr lang="en-US" altLang="zh-CN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115 </a:t>
            </a: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维到底由什么组成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114775-65CB-D64E-6461-688985E96899}"/>
              </a:ext>
            </a:extLst>
          </p:cNvPr>
          <p:cNvSpPr txBox="1"/>
          <p:nvPr/>
        </p:nvSpPr>
        <p:spPr>
          <a:xfrm>
            <a:off x="711200" y="9144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原始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59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列 → 剔除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13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列 →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46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列 →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One-Hot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后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115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列；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行删除、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缺失。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7061DCF-0225-30CA-6B5B-B2095877E256}"/>
              </a:ext>
            </a:extLst>
          </p:cNvPr>
          <p:cNvSpPr/>
          <p:nvPr/>
        </p:nvSpPr>
        <p:spPr>
          <a:xfrm>
            <a:off x="508000" y="1854200"/>
            <a:ext cx="2159000" cy="431800"/>
          </a:xfrm>
          <a:prstGeom prst="rect">
            <a:avLst/>
          </a:prstGeom>
          <a:solidFill>
            <a:srgbClr val="1F4E79"/>
          </a:solidFill>
          <a:ln w="1143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1A62522-A6F2-29F1-30F9-3DF433871142}"/>
              </a:ext>
            </a:extLst>
          </p:cNvPr>
          <p:cNvSpPr txBox="1"/>
          <p:nvPr/>
        </p:nvSpPr>
        <p:spPr>
          <a:xfrm>
            <a:off x="609600" y="2000808"/>
            <a:ext cx="1955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组成部分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45EF0B4-C4D4-DB2D-177D-A29FE7AEEDAB}"/>
              </a:ext>
            </a:extLst>
          </p:cNvPr>
          <p:cNvSpPr/>
          <p:nvPr/>
        </p:nvSpPr>
        <p:spPr>
          <a:xfrm>
            <a:off x="2667000" y="1854200"/>
            <a:ext cx="1016000" cy="431800"/>
          </a:xfrm>
          <a:prstGeom prst="rect">
            <a:avLst/>
          </a:prstGeom>
          <a:solidFill>
            <a:srgbClr val="1F4E79"/>
          </a:solidFill>
          <a:ln w="1143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E59CF78-A06E-B261-94D0-4E8D51BA82BD}"/>
              </a:ext>
            </a:extLst>
          </p:cNvPr>
          <p:cNvSpPr txBox="1"/>
          <p:nvPr/>
        </p:nvSpPr>
        <p:spPr>
          <a:xfrm>
            <a:off x="2768600" y="2000808"/>
            <a:ext cx="812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列数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47E922E-6EE3-A10E-9538-83545CA1B8B4}"/>
              </a:ext>
            </a:extLst>
          </p:cNvPr>
          <p:cNvSpPr/>
          <p:nvPr/>
        </p:nvSpPr>
        <p:spPr>
          <a:xfrm>
            <a:off x="3683000" y="1854200"/>
            <a:ext cx="8001000" cy="431800"/>
          </a:xfrm>
          <a:prstGeom prst="rect">
            <a:avLst/>
          </a:prstGeom>
          <a:solidFill>
            <a:srgbClr val="1F4E79"/>
          </a:solidFill>
          <a:ln w="1143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6EFF709-A085-5AF3-ACFE-E73208B83CD7}"/>
              </a:ext>
            </a:extLst>
          </p:cNvPr>
          <p:cNvSpPr txBox="1"/>
          <p:nvPr/>
        </p:nvSpPr>
        <p:spPr>
          <a:xfrm>
            <a:off x="3784600" y="2000808"/>
            <a:ext cx="7797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具体内容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EEF7498-F1E7-1E38-38AA-8DF1EE98F69B}"/>
              </a:ext>
            </a:extLst>
          </p:cNvPr>
          <p:cNvSpPr/>
          <p:nvPr/>
        </p:nvSpPr>
        <p:spPr>
          <a:xfrm>
            <a:off x="508000" y="2286000"/>
            <a:ext cx="2159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1A3BC4F-CC55-AED4-6FAB-09FF4D839016}"/>
              </a:ext>
            </a:extLst>
          </p:cNvPr>
          <p:cNvSpPr txBox="1"/>
          <p:nvPr/>
        </p:nvSpPr>
        <p:spPr>
          <a:xfrm>
            <a:off x="609600" y="2407208"/>
            <a:ext cx="1955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105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One-Hot </a:t>
            </a:r>
            <a:r>
              <a:rPr lang="zh-CN" altLang="en-US" sz="105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类别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B4D0C6A-E7DB-8E24-E3D3-440646D55F83}"/>
              </a:ext>
            </a:extLst>
          </p:cNvPr>
          <p:cNvSpPr/>
          <p:nvPr/>
        </p:nvSpPr>
        <p:spPr>
          <a:xfrm>
            <a:off x="2667000" y="2286000"/>
            <a:ext cx="1016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9B24A4D-2C72-A6A9-A6D0-00489DA23C1F}"/>
              </a:ext>
            </a:extLst>
          </p:cNvPr>
          <p:cNvSpPr txBox="1"/>
          <p:nvPr/>
        </p:nvSpPr>
        <p:spPr>
          <a:xfrm>
            <a:off x="2768600" y="2403361"/>
            <a:ext cx="812800" cy="16927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1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79</a:t>
            </a:r>
            <a:endParaRPr lang="zh-CN" altLang="en-US" sz="1100" b="1">
              <a:solidFill>
                <a:srgbClr val="E67E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81DF25E-F128-0C9A-0218-0BEC9813C357}"/>
              </a:ext>
            </a:extLst>
          </p:cNvPr>
          <p:cNvSpPr/>
          <p:nvPr/>
        </p:nvSpPr>
        <p:spPr>
          <a:xfrm>
            <a:off x="3683000" y="2286000"/>
            <a:ext cx="8001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A147122-7A2A-57E1-F0B5-3FE91F2438EF}"/>
              </a:ext>
            </a:extLst>
          </p:cNvPr>
          <p:cNvSpPr txBox="1"/>
          <p:nvPr/>
        </p:nvSpPr>
        <p:spPr>
          <a:xfrm>
            <a:off x="3784600" y="2416442"/>
            <a:ext cx="7797800" cy="14311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银行 </a:t>
            </a:r>
            <a:r>
              <a:rPr lang="en-US" altLang="zh-CN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9+9</a:t>
            </a:r>
            <a:r>
              <a:rPr lang="zh-CN" altLang="en-US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、省份 </a:t>
            </a:r>
            <a:r>
              <a:rPr lang="en-US" altLang="zh-CN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12+12</a:t>
            </a:r>
            <a:r>
              <a:rPr lang="zh-CN" altLang="en-US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、账户类型 </a:t>
            </a:r>
            <a:r>
              <a:rPr lang="en-US" altLang="zh-CN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6+6</a:t>
            </a:r>
            <a:r>
              <a:rPr lang="zh-CN" altLang="en-US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、支付渠道 </a:t>
            </a:r>
            <a:r>
              <a:rPr lang="en-US" altLang="zh-CN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</a:t>
            </a:r>
            <a:r>
              <a:rPr lang="zh-CN" altLang="en-US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、发票类型 </a:t>
            </a:r>
            <a:r>
              <a:rPr lang="en-US" altLang="zh-CN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</a:t>
            </a:r>
            <a:r>
              <a:rPr lang="zh-CN" altLang="en-US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、审批级别 </a:t>
            </a:r>
            <a:r>
              <a:rPr lang="en-US" altLang="zh-CN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</a:t>
            </a:r>
            <a:r>
              <a:rPr lang="zh-CN" altLang="en-US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、边类型 </a:t>
            </a:r>
            <a:r>
              <a:rPr lang="en-US" altLang="zh-CN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8</a:t>
            </a:r>
            <a:endParaRPr lang="zh-CN" altLang="en-US" sz="930">
              <a:solidFill>
                <a:srgbClr val="34495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D99721B-5E2F-9265-E350-A637178F2085}"/>
              </a:ext>
            </a:extLst>
          </p:cNvPr>
          <p:cNvSpPr/>
          <p:nvPr/>
        </p:nvSpPr>
        <p:spPr>
          <a:xfrm>
            <a:off x="508000" y="2768600"/>
            <a:ext cx="2159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4EE4F0E-2842-6246-F478-3DC4DA6B80E3}"/>
              </a:ext>
            </a:extLst>
          </p:cNvPr>
          <p:cNvSpPr txBox="1"/>
          <p:nvPr/>
        </p:nvSpPr>
        <p:spPr>
          <a:xfrm>
            <a:off x="609600" y="2889808"/>
            <a:ext cx="1955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数值特征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C40FB70-253B-C58E-6957-B8F87AEDE35C}"/>
              </a:ext>
            </a:extLst>
          </p:cNvPr>
          <p:cNvSpPr/>
          <p:nvPr/>
        </p:nvSpPr>
        <p:spPr>
          <a:xfrm>
            <a:off x="2667000" y="2768600"/>
            <a:ext cx="1016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516FC22A-574E-6DAB-4BF6-6FD598A1BF32}"/>
              </a:ext>
            </a:extLst>
          </p:cNvPr>
          <p:cNvSpPr txBox="1"/>
          <p:nvPr/>
        </p:nvSpPr>
        <p:spPr>
          <a:xfrm>
            <a:off x="2768600" y="2885961"/>
            <a:ext cx="812800" cy="16927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1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</a:t>
            </a:r>
            <a:endParaRPr lang="zh-CN" altLang="en-US" sz="1100" b="1">
              <a:solidFill>
                <a:srgbClr val="E67E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39B0822-73B6-0731-68D8-D1CDA716E7DE}"/>
              </a:ext>
            </a:extLst>
          </p:cNvPr>
          <p:cNvSpPr/>
          <p:nvPr/>
        </p:nvSpPr>
        <p:spPr>
          <a:xfrm>
            <a:off x="3683000" y="2768600"/>
            <a:ext cx="8001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AFCEB8A-9B22-D1F1-0ADA-8E0975567803}"/>
              </a:ext>
            </a:extLst>
          </p:cNvPr>
          <p:cNvSpPr txBox="1"/>
          <p:nvPr/>
        </p:nvSpPr>
        <p:spPr>
          <a:xfrm>
            <a:off x="3784600" y="2899041"/>
            <a:ext cx="7797800" cy="14311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时间、账龄、评分、计数等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0BA340E-6FCD-C82A-ACF6-D1D83B3F1A32}"/>
              </a:ext>
            </a:extLst>
          </p:cNvPr>
          <p:cNvSpPr/>
          <p:nvPr/>
        </p:nvSpPr>
        <p:spPr>
          <a:xfrm>
            <a:off x="508000" y="3251200"/>
            <a:ext cx="2159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8154FAA5-7A7C-68BA-D17E-DAE629E7AD8E}"/>
              </a:ext>
            </a:extLst>
          </p:cNvPr>
          <p:cNvSpPr txBox="1"/>
          <p:nvPr/>
        </p:nvSpPr>
        <p:spPr>
          <a:xfrm>
            <a:off x="609600" y="3372408"/>
            <a:ext cx="1955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金额 </a:t>
            </a:r>
            <a:r>
              <a:rPr lang="en-US" altLang="zh-CN" sz="105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 </a:t>
            </a:r>
            <a:r>
              <a:rPr lang="zh-CN" altLang="en-US" sz="105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比率 </a:t>
            </a:r>
            <a:r>
              <a:rPr lang="en-US" altLang="zh-CN" sz="105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log1p+z</a:t>
            </a:r>
            <a:endParaRPr lang="zh-CN" altLang="en-US" sz="1050" b="1">
              <a:solidFill>
                <a:srgbClr val="1B263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5F9758B-16D3-283E-27B5-B60D737FEF9C}"/>
              </a:ext>
            </a:extLst>
          </p:cNvPr>
          <p:cNvSpPr/>
          <p:nvPr/>
        </p:nvSpPr>
        <p:spPr>
          <a:xfrm>
            <a:off x="2667000" y="3251200"/>
            <a:ext cx="1016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2A5D3A3-AD69-FA7B-CD22-133A07C767B3}"/>
              </a:ext>
            </a:extLst>
          </p:cNvPr>
          <p:cNvSpPr txBox="1"/>
          <p:nvPr/>
        </p:nvSpPr>
        <p:spPr>
          <a:xfrm>
            <a:off x="2768600" y="3368561"/>
            <a:ext cx="812800" cy="16927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1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</a:t>
            </a:r>
            <a:endParaRPr lang="zh-CN" altLang="en-US" sz="1100" b="1">
              <a:solidFill>
                <a:srgbClr val="E67E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0B51A59-0BE6-4A14-0DFE-7FE6F7CA1761}"/>
              </a:ext>
            </a:extLst>
          </p:cNvPr>
          <p:cNvSpPr/>
          <p:nvPr/>
        </p:nvSpPr>
        <p:spPr>
          <a:xfrm>
            <a:off x="3683000" y="3251200"/>
            <a:ext cx="8001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C1AA85FC-5369-6C44-D7D1-9CEBD6DAB186}"/>
              </a:ext>
            </a:extLst>
          </p:cNvPr>
          <p:cNvSpPr txBox="1"/>
          <p:nvPr/>
        </p:nvSpPr>
        <p:spPr>
          <a:xfrm>
            <a:off x="3784600" y="3381641"/>
            <a:ext cx="7797800" cy="14311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交易金额、历史均值、交易</a:t>
            </a:r>
            <a:r>
              <a:rPr lang="en-US" altLang="zh-CN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均值比、阈值比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EE0466B-323B-E5F4-124E-280A696E20A5}"/>
              </a:ext>
            </a:extLst>
          </p:cNvPr>
          <p:cNvSpPr/>
          <p:nvPr/>
        </p:nvSpPr>
        <p:spPr>
          <a:xfrm>
            <a:off x="508000" y="3733800"/>
            <a:ext cx="2159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6A558194-447A-01BF-D780-B23299AC2302}"/>
              </a:ext>
            </a:extLst>
          </p:cNvPr>
          <p:cNvSpPr txBox="1"/>
          <p:nvPr/>
        </p:nvSpPr>
        <p:spPr>
          <a:xfrm>
            <a:off x="609600" y="3855008"/>
            <a:ext cx="1955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标识列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BEA22EA-A43A-D49B-706B-2824CF15BF3E}"/>
              </a:ext>
            </a:extLst>
          </p:cNvPr>
          <p:cNvSpPr/>
          <p:nvPr/>
        </p:nvSpPr>
        <p:spPr>
          <a:xfrm>
            <a:off x="2667000" y="3733800"/>
            <a:ext cx="1016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59DF58D7-586E-CAAB-67F5-A421B55FF217}"/>
              </a:ext>
            </a:extLst>
          </p:cNvPr>
          <p:cNvSpPr txBox="1"/>
          <p:nvPr/>
        </p:nvSpPr>
        <p:spPr>
          <a:xfrm>
            <a:off x="2768600" y="3851161"/>
            <a:ext cx="812800" cy="16927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1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endParaRPr lang="zh-CN" altLang="en-US" sz="1100" b="1">
              <a:solidFill>
                <a:srgbClr val="E67E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B4F7732D-8F41-DD0F-0BDB-4685C6625826}"/>
              </a:ext>
            </a:extLst>
          </p:cNvPr>
          <p:cNvSpPr/>
          <p:nvPr/>
        </p:nvSpPr>
        <p:spPr>
          <a:xfrm>
            <a:off x="3683000" y="3733800"/>
            <a:ext cx="8001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8D2B2438-FF2B-3FCE-465F-C9902C374E7C}"/>
              </a:ext>
            </a:extLst>
          </p:cNvPr>
          <p:cNvSpPr txBox="1"/>
          <p:nvPr/>
        </p:nvSpPr>
        <p:spPr>
          <a:xfrm>
            <a:off x="3784600" y="3864241"/>
            <a:ext cx="7797800" cy="14311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Transaction_ID</a:t>
            </a:r>
            <a:r>
              <a:rPr lang="zh-CN" altLang="en-US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</a:t>
            </a:r>
            <a:r>
              <a:rPr lang="en-US" altLang="zh-CN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Transaction_DateTime</a:t>
            </a:r>
            <a:r>
              <a:rPr lang="zh-CN" altLang="en-US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（不进入模型）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AE7D240-8702-AD3D-6460-30604EEFC393}"/>
              </a:ext>
            </a:extLst>
          </p:cNvPr>
          <p:cNvSpPr/>
          <p:nvPr/>
        </p:nvSpPr>
        <p:spPr>
          <a:xfrm>
            <a:off x="508000" y="4216400"/>
            <a:ext cx="2159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D00CE00C-861E-9C2A-AAC3-60BA480AE584}"/>
              </a:ext>
            </a:extLst>
          </p:cNvPr>
          <p:cNvSpPr txBox="1"/>
          <p:nvPr/>
        </p:nvSpPr>
        <p:spPr>
          <a:xfrm>
            <a:off x="609600" y="4337608"/>
            <a:ext cx="1955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标签列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D90442C-2189-C410-17A5-8714AA4063CB}"/>
              </a:ext>
            </a:extLst>
          </p:cNvPr>
          <p:cNvSpPr/>
          <p:nvPr/>
        </p:nvSpPr>
        <p:spPr>
          <a:xfrm>
            <a:off x="2667000" y="4216400"/>
            <a:ext cx="1016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6308DFE-75A4-BE05-C034-653F2D435AEA}"/>
              </a:ext>
            </a:extLst>
          </p:cNvPr>
          <p:cNvSpPr txBox="1"/>
          <p:nvPr/>
        </p:nvSpPr>
        <p:spPr>
          <a:xfrm>
            <a:off x="2768600" y="4333761"/>
            <a:ext cx="812800" cy="16927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1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</a:t>
            </a:r>
            <a:endParaRPr lang="zh-CN" altLang="en-US" sz="1100" b="1">
              <a:solidFill>
                <a:srgbClr val="E67E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876E6BE-0D2D-DF68-D541-DAA27C39022C}"/>
              </a:ext>
            </a:extLst>
          </p:cNvPr>
          <p:cNvSpPr/>
          <p:nvPr/>
        </p:nvSpPr>
        <p:spPr>
          <a:xfrm>
            <a:off x="3683000" y="4216400"/>
            <a:ext cx="8001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157CEEA-882B-6DF2-C5BD-BECD5F1878E8}"/>
              </a:ext>
            </a:extLst>
          </p:cNvPr>
          <p:cNvSpPr txBox="1"/>
          <p:nvPr/>
        </p:nvSpPr>
        <p:spPr>
          <a:xfrm>
            <a:off x="3784600" y="4346841"/>
            <a:ext cx="7797800" cy="14311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Abnormal_Label</a:t>
            </a:r>
            <a:r>
              <a:rPr lang="zh-CN" altLang="en-US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</a:t>
            </a:r>
            <a:r>
              <a:rPr lang="en-US" altLang="zh-CN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Abnormal_Type</a:t>
            </a:r>
            <a:r>
              <a:rPr lang="zh-CN" altLang="en-US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（只用于评估</a:t>
            </a:r>
            <a:r>
              <a:rPr lang="en-US" altLang="zh-CN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93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对照）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4A5B645C-CFEB-A7D6-9BFD-6866973CB775}"/>
              </a:ext>
            </a:extLst>
          </p:cNvPr>
          <p:cNvSpPr/>
          <p:nvPr/>
        </p:nvSpPr>
        <p:spPr>
          <a:xfrm>
            <a:off x="508000" y="4699000"/>
            <a:ext cx="2159000" cy="482600"/>
          </a:xfrm>
          <a:prstGeom prst="rect">
            <a:avLst/>
          </a:prstGeom>
          <a:solidFill>
            <a:srgbClr val="EBF5FB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F02351D0-34E4-BACF-575D-8DF806706F67}"/>
              </a:ext>
            </a:extLst>
          </p:cNvPr>
          <p:cNvSpPr txBox="1"/>
          <p:nvPr/>
        </p:nvSpPr>
        <p:spPr>
          <a:xfrm>
            <a:off x="609600" y="4820208"/>
            <a:ext cx="1955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合计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F26994F7-6F48-AC9B-735E-7D798A17FFD7}"/>
              </a:ext>
            </a:extLst>
          </p:cNvPr>
          <p:cNvSpPr/>
          <p:nvPr/>
        </p:nvSpPr>
        <p:spPr>
          <a:xfrm>
            <a:off x="2667000" y="4699000"/>
            <a:ext cx="1016000" cy="482600"/>
          </a:xfrm>
          <a:prstGeom prst="rect">
            <a:avLst/>
          </a:prstGeom>
          <a:solidFill>
            <a:srgbClr val="EBF5FB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79AFC91-02CC-241F-D681-85FA4509AF60}"/>
              </a:ext>
            </a:extLst>
          </p:cNvPr>
          <p:cNvSpPr txBox="1"/>
          <p:nvPr/>
        </p:nvSpPr>
        <p:spPr>
          <a:xfrm>
            <a:off x="2768600" y="4816361"/>
            <a:ext cx="812800" cy="169277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1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115</a:t>
            </a:r>
            <a:endParaRPr lang="zh-CN" altLang="en-US" sz="1100" b="1">
              <a:solidFill>
                <a:srgbClr val="E67E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366788F2-8599-DE70-07F0-0DA52FBADE6C}"/>
              </a:ext>
            </a:extLst>
          </p:cNvPr>
          <p:cNvSpPr/>
          <p:nvPr/>
        </p:nvSpPr>
        <p:spPr>
          <a:xfrm>
            <a:off x="3683000" y="4699000"/>
            <a:ext cx="8001000" cy="482600"/>
          </a:xfrm>
          <a:prstGeom prst="rect">
            <a:avLst/>
          </a:prstGeom>
          <a:solidFill>
            <a:srgbClr val="EBF5FB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408900C5-6BAC-5989-41AA-E8C722579E0A}"/>
              </a:ext>
            </a:extLst>
          </p:cNvPr>
          <p:cNvSpPr txBox="1"/>
          <p:nvPr/>
        </p:nvSpPr>
        <p:spPr>
          <a:xfrm>
            <a:off x="3784600" y="4829441"/>
            <a:ext cx="7797800" cy="143116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3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其中 </a:t>
            </a:r>
            <a:r>
              <a:rPr lang="en-US" altLang="zh-CN" sz="93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111 </a:t>
            </a:r>
            <a:r>
              <a:rPr lang="zh-CN" altLang="en-US" sz="93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个特征参与建模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537420C2-E450-5B83-3479-883F7ABE3D62}"/>
              </a:ext>
            </a:extLst>
          </p:cNvPr>
          <p:cNvSpPr/>
          <p:nvPr/>
        </p:nvSpPr>
        <p:spPr>
          <a:xfrm>
            <a:off x="508000" y="5461000"/>
            <a:ext cx="11176000" cy="406400"/>
          </a:xfrm>
          <a:prstGeom prst="roundRect">
            <a:avLst/>
          </a:prstGeom>
          <a:solidFill>
            <a:srgbClr val="EBF5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5E8771F-AB3A-ADCA-DA0F-3D317FF97785}"/>
              </a:ext>
            </a:extLst>
          </p:cNvPr>
          <p:cNvSpPr txBox="1"/>
          <p:nvPr/>
        </p:nvSpPr>
        <p:spPr>
          <a:xfrm>
            <a:off x="736600" y="5537200"/>
            <a:ext cx="10718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115 = 79 </a:t>
            </a:r>
            <a:r>
              <a:rPr lang="zh-CN" altLang="en-US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 </a:t>
            </a: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One-Hot + 28 </a:t>
            </a:r>
            <a:r>
              <a:rPr lang="zh-CN" altLang="en-US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个数值 </a:t>
            </a: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+ 4 </a:t>
            </a:r>
            <a:r>
              <a:rPr lang="zh-CN" altLang="en-US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个金额</a:t>
            </a: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比率 </a:t>
            </a: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+ 2 </a:t>
            </a:r>
            <a:r>
              <a:rPr lang="zh-CN" altLang="en-US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个标识 </a:t>
            </a: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+ 2 </a:t>
            </a:r>
            <a:r>
              <a:rPr lang="zh-CN" altLang="en-US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个标签；建模只用 </a:t>
            </a: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111 </a:t>
            </a:r>
            <a:r>
              <a:rPr lang="zh-CN" altLang="en-US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个特征。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3ACCE42B-FBFE-3D75-0C6E-577E4893ADFE}"/>
              </a:ext>
            </a:extLst>
          </p:cNvPr>
          <p:cNvSpPr txBox="1"/>
          <p:nvPr/>
        </p:nvSpPr>
        <p:spPr>
          <a:xfrm>
            <a:off x="711200" y="6019800"/>
            <a:ext cx="109220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被剔除的 </a:t>
            </a: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13 </a:t>
            </a: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列：常量 </a:t>
            </a: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Currency</a:t>
            </a: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、泄漏 </a:t>
            </a: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Risk_Class</a:t>
            </a: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、节点</a:t>
            </a: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实体 </a:t>
            </a: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ID </a:t>
            </a: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与名称、</a:t>
            </a: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Invoice_ID</a:t>
            </a: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、两个城市列。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069B0F9E-CEDD-DDAA-A519-9FC5DA0BF918}"/>
              </a:ext>
            </a:extLst>
          </p:cNvPr>
          <p:cNvSpPr/>
          <p:nvPr/>
        </p:nvSpPr>
        <p:spPr>
          <a:xfrm>
            <a:off x="508000" y="6578600"/>
            <a:ext cx="11176000" cy="1270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A477B9C-5E94-0A76-340D-8B9B5992F46D}"/>
              </a:ext>
            </a:extLst>
          </p:cNvPr>
          <p:cNvSpPr txBox="1"/>
          <p:nvPr/>
        </p:nvSpPr>
        <p:spPr>
          <a:xfrm>
            <a:off x="508000" y="6642100"/>
            <a:ext cx="7874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智慧审计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机器学习 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| 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期中实践 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| 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附录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备用页（不计入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10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页主线）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AE0685B-DA9D-8B27-BB49-1EC8792576D0}"/>
              </a:ext>
            </a:extLst>
          </p:cNvPr>
          <p:cNvSpPr txBox="1"/>
          <p:nvPr/>
        </p:nvSpPr>
        <p:spPr>
          <a:xfrm>
            <a:off x="10668000" y="6642100"/>
            <a:ext cx="1016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A-1 / 3</a:t>
            </a:r>
            <a:endParaRPr lang="zh-CN" altLang="en-US" sz="85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29003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BC8F863-A7E0-44D5-871B-54E6178467A4}"/>
              </a:ext>
            </a:extLst>
          </p:cNvPr>
          <p:cNvSpPr/>
          <p:nvPr/>
        </p:nvSpPr>
        <p:spPr>
          <a:xfrm>
            <a:off x="508000" y="381000"/>
            <a:ext cx="76200" cy="431800"/>
          </a:xfrm>
          <a:prstGeom prst="rect">
            <a:avLst/>
          </a:prstGeom>
          <a:solidFill>
            <a:srgbClr val="E67E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BAC2E33-4692-7D59-E928-7A06C7AB8949}"/>
              </a:ext>
            </a:extLst>
          </p:cNvPr>
          <p:cNvSpPr txBox="1"/>
          <p:nvPr/>
        </p:nvSpPr>
        <p:spPr>
          <a:xfrm>
            <a:off x="711200" y="304800"/>
            <a:ext cx="10922000" cy="35394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附录 </a:t>
            </a:r>
            <a:r>
              <a:rPr lang="en-US" altLang="zh-CN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A-2</a:t>
            </a: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（备用）：</a:t>
            </a:r>
            <a:r>
              <a:rPr lang="en-US" altLang="zh-CN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Top-K </a:t>
            </a: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全表</a:t>
            </a:r>
            <a:r>
              <a:rPr lang="en-US" altLang="zh-CN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——K </a:t>
            </a: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由审计人力决定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913B605-DC3F-9042-DBDA-07FA050607E7}"/>
              </a:ext>
            </a:extLst>
          </p:cNvPr>
          <p:cNvSpPr txBox="1"/>
          <p:nvPr/>
        </p:nvSpPr>
        <p:spPr>
          <a:xfrm>
            <a:off x="711200" y="9144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分数排序不变；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越大，召回越高、精确率越低。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K=140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对应本项目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2%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审计容量。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DDA1E72-0D7E-9A83-9AED-5F9DA912D587}"/>
              </a:ext>
            </a:extLst>
          </p:cNvPr>
          <p:cNvSpPr/>
          <p:nvPr/>
        </p:nvSpPr>
        <p:spPr>
          <a:xfrm>
            <a:off x="508000" y="1854200"/>
            <a:ext cx="1016000" cy="431800"/>
          </a:xfrm>
          <a:prstGeom prst="rect">
            <a:avLst/>
          </a:prstGeom>
          <a:solidFill>
            <a:srgbClr val="1F4E79"/>
          </a:solidFill>
          <a:ln w="1143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66E7553-A6F1-135A-8158-5921EB14B451}"/>
              </a:ext>
            </a:extLst>
          </p:cNvPr>
          <p:cNvSpPr txBox="1"/>
          <p:nvPr/>
        </p:nvSpPr>
        <p:spPr>
          <a:xfrm>
            <a:off x="609600" y="2000808"/>
            <a:ext cx="812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</a:t>
            </a:r>
            <a:endParaRPr lang="zh-CN" altLang="en-US" sz="1050" b="1">
              <a:solidFill>
                <a:srgbClr val="FFFFF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25F6A2E-F996-9BBA-9C61-51FF5C6F2067}"/>
              </a:ext>
            </a:extLst>
          </p:cNvPr>
          <p:cNvSpPr/>
          <p:nvPr/>
        </p:nvSpPr>
        <p:spPr>
          <a:xfrm>
            <a:off x="1524000" y="1854200"/>
            <a:ext cx="1143000" cy="431800"/>
          </a:xfrm>
          <a:prstGeom prst="rect">
            <a:avLst/>
          </a:prstGeom>
          <a:solidFill>
            <a:srgbClr val="1F4E79"/>
          </a:solidFill>
          <a:ln w="1143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05EF578-EBCB-65E9-BD31-7431062C627A}"/>
              </a:ext>
            </a:extLst>
          </p:cNvPr>
          <p:cNvSpPr txBox="1"/>
          <p:nvPr/>
        </p:nvSpPr>
        <p:spPr>
          <a:xfrm>
            <a:off x="1625600" y="2000808"/>
            <a:ext cx="939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命中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36DC6B5-9DB0-A889-00DF-C81A224BD92A}"/>
              </a:ext>
            </a:extLst>
          </p:cNvPr>
          <p:cNvSpPr/>
          <p:nvPr/>
        </p:nvSpPr>
        <p:spPr>
          <a:xfrm>
            <a:off x="2667000" y="1854200"/>
            <a:ext cx="1397000" cy="431800"/>
          </a:xfrm>
          <a:prstGeom prst="rect">
            <a:avLst/>
          </a:prstGeom>
          <a:solidFill>
            <a:srgbClr val="1F4E79"/>
          </a:solidFill>
          <a:ln w="1143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9E5482E-03F9-76EC-E116-618740A66A02}"/>
              </a:ext>
            </a:extLst>
          </p:cNvPr>
          <p:cNvSpPr txBox="1"/>
          <p:nvPr/>
        </p:nvSpPr>
        <p:spPr>
          <a:xfrm>
            <a:off x="2768600" y="2000808"/>
            <a:ext cx="1193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精确率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5E2E6F7-3C85-F348-86C6-7C847B13658A}"/>
              </a:ext>
            </a:extLst>
          </p:cNvPr>
          <p:cNvSpPr/>
          <p:nvPr/>
        </p:nvSpPr>
        <p:spPr>
          <a:xfrm>
            <a:off x="4064000" y="1854200"/>
            <a:ext cx="1397000" cy="431800"/>
          </a:xfrm>
          <a:prstGeom prst="rect">
            <a:avLst/>
          </a:prstGeom>
          <a:solidFill>
            <a:srgbClr val="1F4E79"/>
          </a:solidFill>
          <a:ln w="1143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AC29F7F0-668B-06C1-2129-289802E5A804}"/>
              </a:ext>
            </a:extLst>
          </p:cNvPr>
          <p:cNvSpPr txBox="1"/>
          <p:nvPr/>
        </p:nvSpPr>
        <p:spPr>
          <a:xfrm>
            <a:off x="4165600" y="2000808"/>
            <a:ext cx="1193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召回率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190B0A9-F534-0F49-6BD6-A4FBD6E64C37}"/>
              </a:ext>
            </a:extLst>
          </p:cNvPr>
          <p:cNvSpPr/>
          <p:nvPr/>
        </p:nvSpPr>
        <p:spPr>
          <a:xfrm>
            <a:off x="5461000" y="1854200"/>
            <a:ext cx="1270000" cy="431800"/>
          </a:xfrm>
          <a:prstGeom prst="rect">
            <a:avLst/>
          </a:prstGeom>
          <a:solidFill>
            <a:srgbClr val="1F4E79"/>
          </a:solidFill>
          <a:ln w="1143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53679F91-A6B4-8542-B040-AFD7389B31BA}"/>
              </a:ext>
            </a:extLst>
          </p:cNvPr>
          <p:cNvSpPr txBox="1"/>
          <p:nvPr/>
        </p:nvSpPr>
        <p:spPr>
          <a:xfrm>
            <a:off x="5562600" y="2000808"/>
            <a:ext cx="1066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lift</a:t>
            </a:r>
            <a:endParaRPr lang="zh-CN" altLang="en-US" sz="1050" b="1">
              <a:solidFill>
                <a:srgbClr val="FFFFFF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ECBF030-AEF3-9E72-DBB9-4EF40FAF48FE}"/>
              </a:ext>
            </a:extLst>
          </p:cNvPr>
          <p:cNvSpPr/>
          <p:nvPr/>
        </p:nvSpPr>
        <p:spPr>
          <a:xfrm>
            <a:off x="6731000" y="1854200"/>
            <a:ext cx="4953000" cy="431800"/>
          </a:xfrm>
          <a:prstGeom prst="rect">
            <a:avLst/>
          </a:prstGeom>
          <a:solidFill>
            <a:srgbClr val="1F4E79"/>
          </a:solidFill>
          <a:ln w="1143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78DDF376-240F-EFCD-1D4C-7C0D780D2BF3}"/>
              </a:ext>
            </a:extLst>
          </p:cNvPr>
          <p:cNvSpPr txBox="1"/>
          <p:nvPr/>
        </p:nvSpPr>
        <p:spPr>
          <a:xfrm>
            <a:off x="6832600" y="2000808"/>
            <a:ext cx="4749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适用场景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0A3B63B-5738-B515-6C4E-954D9CC46E58}"/>
              </a:ext>
            </a:extLst>
          </p:cNvPr>
          <p:cNvSpPr/>
          <p:nvPr/>
        </p:nvSpPr>
        <p:spPr>
          <a:xfrm>
            <a:off x="508000" y="2286000"/>
            <a:ext cx="1016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D57E7D5-6182-D246-04A5-D10C2BD39A5E}"/>
              </a:ext>
            </a:extLst>
          </p:cNvPr>
          <p:cNvSpPr txBox="1"/>
          <p:nvPr/>
        </p:nvSpPr>
        <p:spPr>
          <a:xfrm>
            <a:off x="609600" y="2407208"/>
            <a:ext cx="812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50</a:t>
            </a:r>
            <a:endParaRPr lang="zh-CN" altLang="en-US" sz="1050" b="1">
              <a:solidFill>
                <a:srgbClr val="E67E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B3559D7-6830-D1E7-6667-832D448BE808}"/>
              </a:ext>
            </a:extLst>
          </p:cNvPr>
          <p:cNvSpPr/>
          <p:nvPr/>
        </p:nvSpPr>
        <p:spPr>
          <a:xfrm>
            <a:off x="1524000" y="2286000"/>
            <a:ext cx="1143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0103EA8D-C555-2E3E-6899-01425F33A422}"/>
              </a:ext>
            </a:extLst>
          </p:cNvPr>
          <p:cNvSpPr txBox="1"/>
          <p:nvPr/>
        </p:nvSpPr>
        <p:spPr>
          <a:xfrm>
            <a:off x="1625600" y="2411055"/>
            <a:ext cx="9398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0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49</a:t>
            </a:r>
            <a:endParaRPr lang="zh-CN" altLang="en-US" sz="1000">
              <a:solidFill>
                <a:srgbClr val="34495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962ED9E3-7562-E18C-7F22-627C2F27203E}"/>
              </a:ext>
            </a:extLst>
          </p:cNvPr>
          <p:cNvSpPr/>
          <p:nvPr/>
        </p:nvSpPr>
        <p:spPr>
          <a:xfrm>
            <a:off x="2667000" y="2286000"/>
            <a:ext cx="1397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06575B6-4D53-D646-ECC6-82FAA033DF09}"/>
              </a:ext>
            </a:extLst>
          </p:cNvPr>
          <p:cNvSpPr txBox="1"/>
          <p:nvPr/>
        </p:nvSpPr>
        <p:spPr>
          <a:xfrm>
            <a:off x="2768600" y="2407208"/>
            <a:ext cx="1193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27AE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98.0%</a:t>
            </a:r>
            <a:endParaRPr lang="zh-CN" altLang="en-US" sz="1050" b="1">
              <a:solidFill>
                <a:srgbClr val="27AE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F979F96-7600-0483-2215-AC96A9934508}"/>
              </a:ext>
            </a:extLst>
          </p:cNvPr>
          <p:cNvSpPr/>
          <p:nvPr/>
        </p:nvSpPr>
        <p:spPr>
          <a:xfrm>
            <a:off x="4064000" y="2286000"/>
            <a:ext cx="1397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7921A38E-BCB1-F853-F37D-A55919887855}"/>
              </a:ext>
            </a:extLst>
          </p:cNvPr>
          <p:cNvSpPr txBox="1"/>
          <p:nvPr/>
        </p:nvSpPr>
        <p:spPr>
          <a:xfrm>
            <a:off x="4165600" y="2407208"/>
            <a:ext cx="1193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5.1%</a:t>
            </a:r>
            <a:endParaRPr lang="zh-CN" altLang="en-US" sz="1050">
              <a:solidFill>
                <a:srgbClr val="34495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DB0CD45-86C3-4E4C-D219-0AA8BD5AAAF6}"/>
              </a:ext>
            </a:extLst>
          </p:cNvPr>
          <p:cNvSpPr/>
          <p:nvPr/>
        </p:nvSpPr>
        <p:spPr>
          <a:xfrm>
            <a:off x="5461000" y="2286000"/>
            <a:ext cx="1270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5471620-721A-2EEE-6389-D23369D54DA1}"/>
              </a:ext>
            </a:extLst>
          </p:cNvPr>
          <p:cNvSpPr txBox="1"/>
          <p:nvPr/>
        </p:nvSpPr>
        <p:spPr>
          <a:xfrm>
            <a:off x="5562600" y="2407208"/>
            <a:ext cx="1066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7.18×</a:t>
            </a:r>
            <a:endParaRPr lang="zh-CN" altLang="en-US" sz="1050" b="1">
              <a:solidFill>
                <a:srgbClr val="1F4E79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58A0D39-3739-7177-1245-3438798B2D6D}"/>
              </a:ext>
            </a:extLst>
          </p:cNvPr>
          <p:cNvSpPr/>
          <p:nvPr/>
        </p:nvSpPr>
        <p:spPr>
          <a:xfrm>
            <a:off x="6731000" y="2286000"/>
            <a:ext cx="4953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76F3E13C-EDF9-FE32-EF20-D6D4AE036F0C}"/>
              </a:ext>
            </a:extLst>
          </p:cNvPr>
          <p:cNvSpPr txBox="1"/>
          <p:nvPr/>
        </p:nvSpPr>
        <p:spPr>
          <a:xfrm>
            <a:off x="6832600" y="2414902"/>
            <a:ext cx="47498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只能查半天：先抓最稳的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809CBA4-712A-27A1-3CA2-53B06B831F12}"/>
              </a:ext>
            </a:extLst>
          </p:cNvPr>
          <p:cNvSpPr/>
          <p:nvPr/>
        </p:nvSpPr>
        <p:spPr>
          <a:xfrm>
            <a:off x="508000" y="2768600"/>
            <a:ext cx="1016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28FF3CC-8C19-A8B1-38F0-900410F40311}"/>
              </a:ext>
            </a:extLst>
          </p:cNvPr>
          <p:cNvSpPr txBox="1"/>
          <p:nvPr/>
        </p:nvSpPr>
        <p:spPr>
          <a:xfrm>
            <a:off x="609600" y="2889808"/>
            <a:ext cx="812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100</a:t>
            </a:r>
            <a:endParaRPr lang="zh-CN" altLang="en-US" sz="1050" b="1">
              <a:solidFill>
                <a:srgbClr val="E67E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CBC7D8F-129A-BBCB-E975-B14F0B6432DB}"/>
              </a:ext>
            </a:extLst>
          </p:cNvPr>
          <p:cNvSpPr/>
          <p:nvPr/>
        </p:nvSpPr>
        <p:spPr>
          <a:xfrm>
            <a:off x="1524000" y="2768600"/>
            <a:ext cx="1143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785FD05C-8B62-9F04-B16A-7501E3F5D305}"/>
              </a:ext>
            </a:extLst>
          </p:cNvPr>
          <p:cNvSpPr txBox="1"/>
          <p:nvPr/>
        </p:nvSpPr>
        <p:spPr>
          <a:xfrm>
            <a:off x="1625600" y="2893655"/>
            <a:ext cx="9398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0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96</a:t>
            </a:r>
            <a:endParaRPr lang="zh-CN" altLang="en-US" sz="1000">
              <a:solidFill>
                <a:srgbClr val="34495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9236891-6356-881D-4555-3D3E60049CAE}"/>
              </a:ext>
            </a:extLst>
          </p:cNvPr>
          <p:cNvSpPr/>
          <p:nvPr/>
        </p:nvSpPr>
        <p:spPr>
          <a:xfrm>
            <a:off x="2667000" y="2768600"/>
            <a:ext cx="1397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6D93974-A259-EB2B-A7D2-A48C5657CFF2}"/>
              </a:ext>
            </a:extLst>
          </p:cNvPr>
          <p:cNvSpPr txBox="1"/>
          <p:nvPr/>
        </p:nvSpPr>
        <p:spPr>
          <a:xfrm>
            <a:off x="2768600" y="2889808"/>
            <a:ext cx="1193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27AE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96.0%</a:t>
            </a:r>
            <a:endParaRPr lang="zh-CN" altLang="en-US" sz="1050" b="1">
              <a:solidFill>
                <a:srgbClr val="27AE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367333E9-7F36-1893-7288-6EF04666A00F}"/>
              </a:ext>
            </a:extLst>
          </p:cNvPr>
          <p:cNvSpPr/>
          <p:nvPr/>
        </p:nvSpPr>
        <p:spPr>
          <a:xfrm>
            <a:off x="4064000" y="2768600"/>
            <a:ext cx="1397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14D1860-0A9E-EA74-AB55-5DC6E3AD38AB}"/>
              </a:ext>
            </a:extLst>
          </p:cNvPr>
          <p:cNvSpPr txBox="1"/>
          <p:nvPr/>
        </p:nvSpPr>
        <p:spPr>
          <a:xfrm>
            <a:off x="4165600" y="2889808"/>
            <a:ext cx="1193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10.1%</a:t>
            </a:r>
            <a:endParaRPr lang="zh-CN" altLang="en-US" sz="1050">
              <a:solidFill>
                <a:srgbClr val="34495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015D9F06-1B9F-3302-D71D-39B7C88E9312}"/>
              </a:ext>
            </a:extLst>
          </p:cNvPr>
          <p:cNvSpPr/>
          <p:nvPr/>
        </p:nvSpPr>
        <p:spPr>
          <a:xfrm>
            <a:off x="5461000" y="2768600"/>
            <a:ext cx="1270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CDD11318-05AB-364D-2801-5B09EA5A1F42}"/>
              </a:ext>
            </a:extLst>
          </p:cNvPr>
          <p:cNvSpPr txBox="1"/>
          <p:nvPr/>
        </p:nvSpPr>
        <p:spPr>
          <a:xfrm>
            <a:off x="5562600" y="2889808"/>
            <a:ext cx="1066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7.04×</a:t>
            </a:r>
            <a:endParaRPr lang="zh-CN" altLang="en-US" sz="1050" b="1">
              <a:solidFill>
                <a:srgbClr val="1F4E79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3D03FE5-F5A8-2CC6-9159-5FFC65CEEF88}"/>
              </a:ext>
            </a:extLst>
          </p:cNvPr>
          <p:cNvSpPr/>
          <p:nvPr/>
        </p:nvSpPr>
        <p:spPr>
          <a:xfrm>
            <a:off x="6731000" y="2768600"/>
            <a:ext cx="4953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F8BAADA-2238-F9C1-BD3B-82B4309FC9C6}"/>
              </a:ext>
            </a:extLst>
          </p:cNvPr>
          <p:cNvSpPr txBox="1"/>
          <p:nvPr/>
        </p:nvSpPr>
        <p:spPr>
          <a:xfrm>
            <a:off x="6832600" y="2897502"/>
            <a:ext cx="47498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9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9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人 </a:t>
            </a:r>
            <a:r>
              <a:rPr lang="en-US" altLang="zh-CN" sz="9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9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天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E2406F1-779A-5F63-1C22-065A75463792}"/>
              </a:ext>
            </a:extLst>
          </p:cNvPr>
          <p:cNvSpPr/>
          <p:nvPr/>
        </p:nvSpPr>
        <p:spPr>
          <a:xfrm>
            <a:off x="508000" y="3251200"/>
            <a:ext cx="1016000" cy="482600"/>
          </a:xfrm>
          <a:prstGeom prst="rect">
            <a:avLst/>
          </a:prstGeom>
          <a:solidFill>
            <a:srgbClr val="EBF5FB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A50C86E-487D-A67F-C762-902B542BBC1C}"/>
              </a:ext>
            </a:extLst>
          </p:cNvPr>
          <p:cNvSpPr txBox="1"/>
          <p:nvPr/>
        </p:nvSpPr>
        <p:spPr>
          <a:xfrm>
            <a:off x="609600" y="3372408"/>
            <a:ext cx="812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140</a:t>
            </a:r>
            <a:endParaRPr lang="zh-CN" altLang="en-US" sz="1050" b="1">
              <a:solidFill>
                <a:srgbClr val="E67E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953220F-3864-9163-D215-6DAFAE8FC811}"/>
              </a:ext>
            </a:extLst>
          </p:cNvPr>
          <p:cNvSpPr/>
          <p:nvPr/>
        </p:nvSpPr>
        <p:spPr>
          <a:xfrm>
            <a:off x="1524000" y="3251200"/>
            <a:ext cx="1143000" cy="482600"/>
          </a:xfrm>
          <a:prstGeom prst="rect">
            <a:avLst/>
          </a:prstGeom>
          <a:solidFill>
            <a:srgbClr val="EBF5FB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D0B9576-4E52-2396-87EA-D0E25C8E8F8F}"/>
              </a:ext>
            </a:extLst>
          </p:cNvPr>
          <p:cNvSpPr txBox="1"/>
          <p:nvPr/>
        </p:nvSpPr>
        <p:spPr>
          <a:xfrm>
            <a:off x="1625600" y="3376255"/>
            <a:ext cx="9398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0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129</a:t>
            </a:r>
            <a:endParaRPr lang="zh-CN" altLang="en-US" sz="1000" b="1">
              <a:solidFill>
                <a:srgbClr val="34495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152B9A1-E183-2C32-9B64-DFBD10AC7E8C}"/>
              </a:ext>
            </a:extLst>
          </p:cNvPr>
          <p:cNvSpPr/>
          <p:nvPr/>
        </p:nvSpPr>
        <p:spPr>
          <a:xfrm>
            <a:off x="2667000" y="3251200"/>
            <a:ext cx="1397000" cy="482600"/>
          </a:xfrm>
          <a:prstGeom prst="rect">
            <a:avLst/>
          </a:prstGeom>
          <a:solidFill>
            <a:srgbClr val="EBF5FB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B671EAFF-BE99-FE00-D8B6-B8DDB424E79B}"/>
              </a:ext>
            </a:extLst>
          </p:cNvPr>
          <p:cNvSpPr txBox="1"/>
          <p:nvPr/>
        </p:nvSpPr>
        <p:spPr>
          <a:xfrm>
            <a:off x="2768600" y="3372408"/>
            <a:ext cx="1193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27AE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92.1%</a:t>
            </a:r>
            <a:endParaRPr lang="zh-CN" altLang="en-US" sz="1050" b="1">
              <a:solidFill>
                <a:srgbClr val="27AE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6C63582-B03B-45C8-6DD4-12A815C75452}"/>
              </a:ext>
            </a:extLst>
          </p:cNvPr>
          <p:cNvSpPr/>
          <p:nvPr/>
        </p:nvSpPr>
        <p:spPr>
          <a:xfrm>
            <a:off x="4064000" y="3251200"/>
            <a:ext cx="1397000" cy="482600"/>
          </a:xfrm>
          <a:prstGeom prst="rect">
            <a:avLst/>
          </a:prstGeom>
          <a:solidFill>
            <a:srgbClr val="EBF5FB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0C3E636-1F37-39D3-3039-AE4465EE2007}"/>
              </a:ext>
            </a:extLst>
          </p:cNvPr>
          <p:cNvSpPr txBox="1"/>
          <p:nvPr/>
        </p:nvSpPr>
        <p:spPr>
          <a:xfrm>
            <a:off x="4165600" y="3372408"/>
            <a:ext cx="1193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13.5%</a:t>
            </a:r>
            <a:endParaRPr lang="zh-CN" altLang="en-US" sz="1050" b="1">
              <a:solidFill>
                <a:srgbClr val="34495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343C47D0-3BD3-1FF1-E568-B8EDF0AE9443}"/>
              </a:ext>
            </a:extLst>
          </p:cNvPr>
          <p:cNvSpPr/>
          <p:nvPr/>
        </p:nvSpPr>
        <p:spPr>
          <a:xfrm>
            <a:off x="5461000" y="3251200"/>
            <a:ext cx="1270000" cy="482600"/>
          </a:xfrm>
          <a:prstGeom prst="rect">
            <a:avLst/>
          </a:prstGeom>
          <a:solidFill>
            <a:srgbClr val="EBF5FB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0019E81C-7C19-F8D5-267F-67CF3DC13519}"/>
              </a:ext>
            </a:extLst>
          </p:cNvPr>
          <p:cNvSpPr txBox="1"/>
          <p:nvPr/>
        </p:nvSpPr>
        <p:spPr>
          <a:xfrm>
            <a:off x="5562600" y="3372408"/>
            <a:ext cx="1066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6.75×</a:t>
            </a:r>
            <a:endParaRPr lang="zh-CN" altLang="en-US" sz="1050" b="1">
              <a:solidFill>
                <a:srgbClr val="1F4E79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9EF78224-4B6F-8810-FC8F-27134E996C4B}"/>
              </a:ext>
            </a:extLst>
          </p:cNvPr>
          <p:cNvSpPr/>
          <p:nvPr/>
        </p:nvSpPr>
        <p:spPr>
          <a:xfrm>
            <a:off x="6731000" y="3251200"/>
            <a:ext cx="4953000" cy="482600"/>
          </a:xfrm>
          <a:prstGeom prst="rect">
            <a:avLst/>
          </a:prstGeom>
          <a:solidFill>
            <a:srgbClr val="EBF5FB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0ECBDB6-7CB3-282E-CCED-3BB9205FED6D}"/>
              </a:ext>
            </a:extLst>
          </p:cNvPr>
          <p:cNvSpPr txBox="1"/>
          <p:nvPr/>
        </p:nvSpPr>
        <p:spPr>
          <a:xfrm>
            <a:off x="6832600" y="3380102"/>
            <a:ext cx="47498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5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本项目：</a:t>
            </a:r>
            <a:r>
              <a:rPr lang="en-US" altLang="zh-CN" sz="95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2% </a:t>
            </a:r>
            <a:r>
              <a:rPr lang="zh-CN" altLang="en-US" sz="950" b="1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审计容量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B43CA69-ADF2-C927-B093-BC863BD8C930}"/>
              </a:ext>
            </a:extLst>
          </p:cNvPr>
          <p:cNvSpPr/>
          <p:nvPr/>
        </p:nvSpPr>
        <p:spPr>
          <a:xfrm>
            <a:off x="508000" y="3733800"/>
            <a:ext cx="1016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79E5994-3208-C513-DF0C-9DBF064AA765}"/>
              </a:ext>
            </a:extLst>
          </p:cNvPr>
          <p:cNvSpPr txBox="1"/>
          <p:nvPr/>
        </p:nvSpPr>
        <p:spPr>
          <a:xfrm>
            <a:off x="609600" y="3855008"/>
            <a:ext cx="812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300</a:t>
            </a:r>
            <a:endParaRPr lang="zh-CN" altLang="en-US" sz="1050" b="1">
              <a:solidFill>
                <a:srgbClr val="E67E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8C3465ED-263D-43E2-6702-5DD151292A02}"/>
              </a:ext>
            </a:extLst>
          </p:cNvPr>
          <p:cNvSpPr/>
          <p:nvPr/>
        </p:nvSpPr>
        <p:spPr>
          <a:xfrm>
            <a:off x="1524000" y="3733800"/>
            <a:ext cx="1143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D7AA6C21-8BCF-D07E-640E-56C993C933C2}"/>
              </a:ext>
            </a:extLst>
          </p:cNvPr>
          <p:cNvSpPr txBox="1"/>
          <p:nvPr/>
        </p:nvSpPr>
        <p:spPr>
          <a:xfrm>
            <a:off x="1625600" y="3858855"/>
            <a:ext cx="9398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0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259</a:t>
            </a:r>
            <a:endParaRPr lang="zh-CN" altLang="en-US" sz="1000">
              <a:solidFill>
                <a:srgbClr val="34495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14C67A8B-3AA8-D7C3-94BA-2636A94B3E98}"/>
              </a:ext>
            </a:extLst>
          </p:cNvPr>
          <p:cNvSpPr/>
          <p:nvPr/>
        </p:nvSpPr>
        <p:spPr>
          <a:xfrm>
            <a:off x="2667000" y="3733800"/>
            <a:ext cx="1397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EC3AD696-96A4-D116-A911-D30441E53080}"/>
              </a:ext>
            </a:extLst>
          </p:cNvPr>
          <p:cNvSpPr txBox="1"/>
          <p:nvPr/>
        </p:nvSpPr>
        <p:spPr>
          <a:xfrm>
            <a:off x="2768600" y="3855008"/>
            <a:ext cx="1193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27AE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86.3%</a:t>
            </a:r>
            <a:endParaRPr lang="zh-CN" altLang="en-US" sz="1050" b="1">
              <a:solidFill>
                <a:srgbClr val="27AE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7D63918-3712-4213-1C94-CBF1C666D3A7}"/>
              </a:ext>
            </a:extLst>
          </p:cNvPr>
          <p:cNvSpPr/>
          <p:nvPr/>
        </p:nvSpPr>
        <p:spPr>
          <a:xfrm>
            <a:off x="4064000" y="3733800"/>
            <a:ext cx="1397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8D2A78B7-70E3-F673-BE88-BB6C1125525C}"/>
              </a:ext>
            </a:extLst>
          </p:cNvPr>
          <p:cNvSpPr txBox="1"/>
          <p:nvPr/>
        </p:nvSpPr>
        <p:spPr>
          <a:xfrm>
            <a:off x="4165600" y="3855008"/>
            <a:ext cx="1193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27.1%</a:t>
            </a:r>
            <a:endParaRPr lang="zh-CN" altLang="en-US" sz="1050">
              <a:solidFill>
                <a:srgbClr val="34495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4049D194-EF30-ED96-F7A8-7A7C94EDCE1C}"/>
              </a:ext>
            </a:extLst>
          </p:cNvPr>
          <p:cNvSpPr/>
          <p:nvPr/>
        </p:nvSpPr>
        <p:spPr>
          <a:xfrm>
            <a:off x="5461000" y="3733800"/>
            <a:ext cx="1270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4A6CE03C-9685-3C80-6C7F-A6B2353B2934}"/>
              </a:ext>
            </a:extLst>
          </p:cNvPr>
          <p:cNvSpPr txBox="1"/>
          <p:nvPr/>
        </p:nvSpPr>
        <p:spPr>
          <a:xfrm>
            <a:off x="5562600" y="3855008"/>
            <a:ext cx="1066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6.33×</a:t>
            </a:r>
            <a:endParaRPr lang="zh-CN" altLang="en-US" sz="1050" b="1">
              <a:solidFill>
                <a:srgbClr val="1F4E79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56BC6F2-0310-53B0-4E6D-E5732569A59B}"/>
              </a:ext>
            </a:extLst>
          </p:cNvPr>
          <p:cNvSpPr/>
          <p:nvPr/>
        </p:nvSpPr>
        <p:spPr>
          <a:xfrm>
            <a:off x="6731000" y="3733800"/>
            <a:ext cx="4953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3888464-647F-984A-032B-F77B1F89B987}"/>
              </a:ext>
            </a:extLst>
          </p:cNvPr>
          <p:cNvSpPr txBox="1"/>
          <p:nvPr/>
        </p:nvSpPr>
        <p:spPr>
          <a:xfrm>
            <a:off x="6832600" y="3862702"/>
            <a:ext cx="47498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9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9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人 </a:t>
            </a:r>
            <a:r>
              <a:rPr lang="en-US" altLang="zh-CN" sz="9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 </a:t>
            </a:r>
            <a:r>
              <a:rPr lang="zh-CN" altLang="en-US" sz="9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天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1F3C2B53-8737-3014-EA35-AB68D8A35F02}"/>
              </a:ext>
            </a:extLst>
          </p:cNvPr>
          <p:cNvSpPr/>
          <p:nvPr/>
        </p:nvSpPr>
        <p:spPr>
          <a:xfrm>
            <a:off x="508000" y="4216400"/>
            <a:ext cx="1016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F0A038F-4646-2E80-32A8-55EC4820637E}"/>
              </a:ext>
            </a:extLst>
          </p:cNvPr>
          <p:cNvSpPr txBox="1"/>
          <p:nvPr/>
        </p:nvSpPr>
        <p:spPr>
          <a:xfrm>
            <a:off x="609600" y="4337608"/>
            <a:ext cx="812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500</a:t>
            </a:r>
            <a:endParaRPr lang="zh-CN" altLang="en-US" sz="1050" b="1">
              <a:solidFill>
                <a:srgbClr val="E67E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1AEA8F10-6518-8138-025D-6B9E30523613}"/>
              </a:ext>
            </a:extLst>
          </p:cNvPr>
          <p:cNvSpPr/>
          <p:nvPr/>
        </p:nvSpPr>
        <p:spPr>
          <a:xfrm>
            <a:off x="1524000" y="4216400"/>
            <a:ext cx="1143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2F9F6F6F-2F59-C192-5D1B-6DF209ED6DE7}"/>
              </a:ext>
            </a:extLst>
          </p:cNvPr>
          <p:cNvSpPr txBox="1"/>
          <p:nvPr/>
        </p:nvSpPr>
        <p:spPr>
          <a:xfrm>
            <a:off x="1625600" y="4341455"/>
            <a:ext cx="9398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0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380</a:t>
            </a:r>
            <a:endParaRPr lang="zh-CN" altLang="en-US" sz="1000">
              <a:solidFill>
                <a:srgbClr val="34495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98277C49-582C-B365-1FDE-8858F679EBB7}"/>
              </a:ext>
            </a:extLst>
          </p:cNvPr>
          <p:cNvSpPr/>
          <p:nvPr/>
        </p:nvSpPr>
        <p:spPr>
          <a:xfrm>
            <a:off x="2667000" y="4216400"/>
            <a:ext cx="1397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012E11E2-929E-8FDD-045D-F7C7B23004F9}"/>
              </a:ext>
            </a:extLst>
          </p:cNvPr>
          <p:cNvSpPr txBox="1"/>
          <p:nvPr/>
        </p:nvSpPr>
        <p:spPr>
          <a:xfrm>
            <a:off x="2768600" y="4337608"/>
            <a:ext cx="1193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27AE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76.0%</a:t>
            </a:r>
            <a:endParaRPr lang="zh-CN" altLang="en-US" sz="1050" b="1">
              <a:solidFill>
                <a:srgbClr val="27AE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1088EA0C-F679-5FCF-6CB2-8AAE362BC631}"/>
              </a:ext>
            </a:extLst>
          </p:cNvPr>
          <p:cNvSpPr/>
          <p:nvPr/>
        </p:nvSpPr>
        <p:spPr>
          <a:xfrm>
            <a:off x="4064000" y="4216400"/>
            <a:ext cx="1397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86099B3-2CEC-E688-8D5C-537F551498AB}"/>
              </a:ext>
            </a:extLst>
          </p:cNvPr>
          <p:cNvSpPr txBox="1"/>
          <p:nvPr/>
        </p:nvSpPr>
        <p:spPr>
          <a:xfrm>
            <a:off x="4165600" y="4337608"/>
            <a:ext cx="1193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39.8%</a:t>
            </a:r>
            <a:endParaRPr lang="zh-CN" altLang="en-US" sz="1050">
              <a:solidFill>
                <a:srgbClr val="34495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3F520730-F22B-05B0-19AD-C7D184C50B84}"/>
              </a:ext>
            </a:extLst>
          </p:cNvPr>
          <p:cNvSpPr/>
          <p:nvPr/>
        </p:nvSpPr>
        <p:spPr>
          <a:xfrm>
            <a:off x="5461000" y="4216400"/>
            <a:ext cx="1270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660A72E7-967A-EB55-1CA4-06AEB3186465}"/>
              </a:ext>
            </a:extLst>
          </p:cNvPr>
          <p:cNvSpPr txBox="1"/>
          <p:nvPr/>
        </p:nvSpPr>
        <p:spPr>
          <a:xfrm>
            <a:off x="5562600" y="4337608"/>
            <a:ext cx="1066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5.57×</a:t>
            </a:r>
            <a:endParaRPr lang="zh-CN" altLang="en-US" sz="1050" b="1">
              <a:solidFill>
                <a:srgbClr val="1F4E79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D59693A1-14A4-5BA9-E8EF-AEEF9C8B13C2}"/>
              </a:ext>
            </a:extLst>
          </p:cNvPr>
          <p:cNvSpPr/>
          <p:nvPr/>
        </p:nvSpPr>
        <p:spPr>
          <a:xfrm>
            <a:off x="6731000" y="4216400"/>
            <a:ext cx="4953000" cy="482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C635BFF1-125D-DD61-3BD2-0C2BA3B5528A}"/>
              </a:ext>
            </a:extLst>
          </p:cNvPr>
          <p:cNvSpPr txBox="1"/>
          <p:nvPr/>
        </p:nvSpPr>
        <p:spPr>
          <a:xfrm>
            <a:off x="6832600" y="4345302"/>
            <a:ext cx="47498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扩大核查范围</a:t>
            </a: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FF594EBA-8CB0-22BF-A1DF-468F29F72FCE}"/>
              </a:ext>
            </a:extLst>
          </p:cNvPr>
          <p:cNvSpPr/>
          <p:nvPr/>
        </p:nvSpPr>
        <p:spPr>
          <a:xfrm>
            <a:off x="508000" y="4699000"/>
            <a:ext cx="1016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9294888E-AA38-562E-FA06-FE03A2CBAA06}"/>
              </a:ext>
            </a:extLst>
          </p:cNvPr>
          <p:cNvSpPr txBox="1"/>
          <p:nvPr/>
        </p:nvSpPr>
        <p:spPr>
          <a:xfrm>
            <a:off x="609600" y="4820208"/>
            <a:ext cx="812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1000</a:t>
            </a:r>
            <a:endParaRPr lang="zh-CN" altLang="en-US" sz="1050" b="1">
              <a:solidFill>
                <a:srgbClr val="E67E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2287A61-BC29-3CDE-1385-7B3683CE70F2}"/>
              </a:ext>
            </a:extLst>
          </p:cNvPr>
          <p:cNvSpPr/>
          <p:nvPr/>
        </p:nvSpPr>
        <p:spPr>
          <a:xfrm>
            <a:off x="1524000" y="4699000"/>
            <a:ext cx="1143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6CDC520E-40F5-C08B-7253-D63D814D089A}"/>
              </a:ext>
            </a:extLst>
          </p:cNvPr>
          <p:cNvSpPr txBox="1"/>
          <p:nvPr/>
        </p:nvSpPr>
        <p:spPr>
          <a:xfrm>
            <a:off x="1625600" y="4824055"/>
            <a:ext cx="9398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0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578</a:t>
            </a:r>
            <a:endParaRPr lang="zh-CN" altLang="en-US" sz="1000">
              <a:solidFill>
                <a:srgbClr val="34495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ACADFFF8-74B2-1D53-7B2D-DC70A20A5561}"/>
              </a:ext>
            </a:extLst>
          </p:cNvPr>
          <p:cNvSpPr/>
          <p:nvPr/>
        </p:nvSpPr>
        <p:spPr>
          <a:xfrm>
            <a:off x="2667000" y="4699000"/>
            <a:ext cx="1397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F2F4E866-95E7-267B-01F9-05C456804EF3}"/>
              </a:ext>
            </a:extLst>
          </p:cNvPr>
          <p:cNvSpPr txBox="1"/>
          <p:nvPr/>
        </p:nvSpPr>
        <p:spPr>
          <a:xfrm>
            <a:off x="2768600" y="4820208"/>
            <a:ext cx="1193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27AE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57.8%</a:t>
            </a:r>
            <a:endParaRPr lang="zh-CN" altLang="en-US" sz="1050" b="1">
              <a:solidFill>
                <a:srgbClr val="27AE6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DC26B583-E7E4-3EF7-DE2A-F2AF68A4C5B8}"/>
              </a:ext>
            </a:extLst>
          </p:cNvPr>
          <p:cNvSpPr/>
          <p:nvPr/>
        </p:nvSpPr>
        <p:spPr>
          <a:xfrm>
            <a:off x="4064000" y="4699000"/>
            <a:ext cx="1397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9CC7681D-3AE2-3187-55E2-1FEE2849A326}"/>
              </a:ext>
            </a:extLst>
          </p:cNvPr>
          <p:cNvSpPr txBox="1"/>
          <p:nvPr/>
        </p:nvSpPr>
        <p:spPr>
          <a:xfrm>
            <a:off x="4165600" y="4820208"/>
            <a:ext cx="1193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60.5%</a:t>
            </a:r>
            <a:endParaRPr lang="zh-CN" altLang="en-US" sz="1050">
              <a:solidFill>
                <a:srgbClr val="34495E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9A5DACEA-628E-7D79-2100-EEDEB177D4E4}"/>
              </a:ext>
            </a:extLst>
          </p:cNvPr>
          <p:cNvSpPr/>
          <p:nvPr/>
        </p:nvSpPr>
        <p:spPr>
          <a:xfrm>
            <a:off x="5461000" y="4699000"/>
            <a:ext cx="1270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CA59FDBE-5D08-451E-F30A-1A3243EEB5C5}"/>
              </a:ext>
            </a:extLst>
          </p:cNvPr>
          <p:cNvSpPr txBox="1"/>
          <p:nvPr/>
        </p:nvSpPr>
        <p:spPr>
          <a:xfrm>
            <a:off x="5562600" y="4820208"/>
            <a:ext cx="1066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4.24×</a:t>
            </a:r>
            <a:endParaRPr lang="zh-CN" altLang="en-US" sz="1050" b="1">
              <a:solidFill>
                <a:srgbClr val="1F4E79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1D71081C-7B0B-2AA4-FEE7-90B8D6D35134}"/>
              </a:ext>
            </a:extLst>
          </p:cNvPr>
          <p:cNvSpPr/>
          <p:nvPr/>
        </p:nvSpPr>
        <p:spPr>
          <a:xfrm>
            <a:off x="6731000" y="4699000"/>
            <a:ext cx="4953000" cy="482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6FDA97B3-1278-A480-1DEE-16646B0A971C}"/>
              </a:ext>
            </a:extLst>
          </p:cNvPr>
          <p:cNvSpPr txBox="1"/>
          <p:nvPr/>
        </p:nvSpPr>
        <p:spPr>
          <a:xfrm>
            <a:off x="6832600" y="4827902"/>
            <a:ext cx="47498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5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接近“全量初筛”</a:t>
            </a:r>
          </a:p>
        </p:txBody>
      </p:sp>
      <p:sp>
        <p:nvSpPr>
          <p:cNvPr id="89" name="矩形: 圆角 88">
            <a:extLst>
              <a:ext uri="{FF2B5EF4-FFF2-40B4-BE49-F238E27FC236}">
                <a16:creationId xmlns:a16="http://schemas.microsoft.com/office/drawing/2014/main" id="{CE911690-6C68-9BD9-1F81-959D1C0CFC46}"/>
              </a:ext>
            </a:extLst>
          </p:cNvPr>
          <p:cNvSpPr/>
          <p:nvPr/>
        </p:nvSpPr>
        <p:spPr>
          <a:xfrm>
            <a:off x="508000" y="5461000"/>
            <a:ext cx="11176000" cy="406400"/>
          </a:xfrm>
          <a:prstGeom prst="roundRect">
            <a:avLst/>
          </a:prstGeom>
          <a:solidFill>
            <a:srgbClr val="EBF5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5CC9D825-C186-7406-5EFA-FFE168AE8142}"/>
              </a:ext>
            </a:extLst>
          </p:cNvPr>
          <p:cNvSpPr txBox="1"/>
          <p:nvPr/>
        </p:nvSpPr>
        <p:spPr>
          <a:xfrm>
            <a:off x="736600" y="5537200"/>
            <a:ext cx="10718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精确率 </a:t>
            </a: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命中 </a:t>
            </a: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 K</a:t>
            </a:r>
            <a:r>
              <a:rPr lang="zh-CN" altLang="en-US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；召回率 </a:t>
            </a: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命中 </a:t>
            </a: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 955</a:t>
            </a:r>
            <a:r>
              <a:rPr lang="zh-CN" altLang="en-US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lift = </a:t>
            </a:r>
            <a:r>
              <a:rPr lang="zh-CN" altLang="en-US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精确率 </a:t>
            </a:r>
            <a:r>
              <a:rPr lang="en-US" altLang="zh-CN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 13.64%</a:t>
            </a:r>
            <a:r>
              <a:rPr lang="zh-CN" altLang="en-US" sz="105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。</a:t>
            </a: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03D1CCA-249A-417D-2CA6-5C31E66E983F}"/>
              </a:ext>
            </a:extLst>
          </p:cNvPr>
          <p:cNvSpPr txBox="1"/>
          <p:nvPr/>
        </p:nvSpPr>
        <p:spPr>
          <a:xfrm>
            <a:off x="711200" y="6019800"/>
            <a:ext cx="109220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 </a:t>
            </a: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不是模型参数，是审计人力参数；分数排序不变，改 </a:t>
            </a: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 </a:t>
            </a: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即可。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DE395300-750F-4BED-886F-4F8A69CCF6BF}"/>
              </a:ext>
            </a:extLst>
          </p:cNvPr>
          <p:cNvSpPr/>
          <p:nvPr/>
        </p:nvSpPr>
        <p:spPr>
          <a:xfrm>
            <a:off x="508000" y="6578600"/>
            <a:ext cx="11176000" cy="1270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9C2C61FB-A177-AC63-73E3-1E04A8062B13}"/>
              </a:ext>
            </a:extLst>
          </p:cNvPr>
          <p:cNvSpPr txBox="1"/>
          <p:nvPr/>
        </p:nvSpPr>
        <p:spPr>
          <a:xfrm>
            <a:off x="508000" y="6642100"/>
            <a:ext cx="7874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智慧审计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机器学习 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| 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期中实践 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| 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附录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备用页（不计入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10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页主线）</a:t>
            </a: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ADCCE318-9D6A-5091-210F-04A05CB8D1CD}"/>
              </a:ext>
            </a:extLst>
          </p:cNvPr>
          <p:cNvSpPr txBox="1"/>
          <p:nvPr/>
        </p:nvSpPr>
        <p:spPr>
          <a:xfrm>
            <a:off x="10668000" y="6642100"/>
            <a:ext cx="1016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A-2 / 3</a:t>
            </a:r>
            <a:endParaRPr lang="zh-CN" altLang="en-US" sz="85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926374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C0840FF-3304-92F7-F01E-78EBB8ADAF28}"/>
              </a:ext>
            </a:extLst>
          </p:cNvPr>
          <p:cNvSpPr/>
          <p:nvPr/>
        </p:nvSpPr>
        <p:spPr>
          <a:xfrm>
            <a:off x="508000" y="381000"/>
            <a:ext cx="76200" cy="431800"/>
          </a:xfrm>
          <a:prstGeom prst="rect">
            <a:avLst/>
          </a:prstGeom>
          <a:solidFill>
            <a:srgbClr val="E67E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98BEE52-F7EB-6460-86ED-FC5E3F9FE0CD}"/>
              </a:ext>
            </a:extLst>
          </p:cNvPr>
          <p:cNvSpPr txBox="1"/>
          <p:nvPr/>
        </p:nvSpPr>
        <p:spPr>
          <a:xfrm>
            <a:off x="711200" y="304800"/>
            <a:ext cx="10922000" cy="35394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附录 </a:t>
            </a:r>
            <a:r>
              <a:rPr lang="en-US" altLang="zh-CN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A-3</a:t>
            </a: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（备用）：一条案例怎么读</a:t>
            </a:r>
            <a:r>
              <a:rPr lang="en-US" altLang="zh-CN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23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从原始字段到模型分数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EB33E98-441A-928A-3F71-FE3AC34E8916}"/>
              </a:ext>
            </a:extLst>
          </p:cNvPr>
          <p:cNvSpPr txBox="1"/>
          <p:nvPr/>
        </p:nvSpPr>
        <p:spPr>
          <a:xfrm>
            <a:off x="711200" y="9144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模型排名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/ 7,000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的重复发票案例；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Benford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未标记，模型 </a:t>
            </a:r>
            <a:r>
              <a:rPr lang="en-US" altLang="zh-CN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Top-140 </a:t>
            </a:r>
            <a:r>
              <a:rPr lang="zh-CN" altLang="en-US" sz="10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命中。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D73F28AC-1C4E-DED9-7AE7-5D8E72556128}"/>
              </a:ext>
            </a:extLst>
          </p:cNvPr>
          <p:cNvSpPr/>
          <p:nvPr/>
        </p:nvSpPr>
        <p:spPr>
          <a:xfrm>
            <a:off x="508000" y="1727200"/>
            <a:ext cx="5334000" cy="3810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01F112C-BC08-69EF-897C-FE0F262DADA9}"/>
              </a:ext>
            </a:extLst>
          </p:cNvPr>
          <p:cNvSpPr txBox="1"/>
          <p:nvPr/>
        </p:nvSpPr>
        <p:spPr>
          <a:xfrm>
            <a:off x="736600" y="1879600"/>
            <a:ext cx="4826000" cy="184666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20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原始字段（节选）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BDD2401-700A-D86C-D5A8-596E559B8AA4}"/>
              </a:ext>
            </a:extLst>
          </p:cNvPr>
          <p:cNvSpPr/>
          <p:nvPr/>
        </p:nvSpPr>
        <p:spPr>
          <a:xfrm>
            <a:off x="711200" y="2286000"/>
            <a:ext cx="2032000" cy="355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8223F01-1A0E-4259-38E9-C3CAA0EBB5BA}"/>
              </a:ext>
            </a:extLst>
          </p:cNvPr>
          <p:cNvSpPr txBox="1"/>
          <p:nvPr/>
        </p:nvSpPr>
        <p:spPr>
          <a:xfrm>
            <a:off x="838200" y="2402202"/>
            <a:ext cx="17780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交易 </a:t>
            </a:r>
            <a:r>
              <a:rPr lang="en-US" altLang="zh-CN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ID</a:t>
            </a:r>
            <a:endParaRPr lang="zh-CN" altLang="en-US" sz="95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89617F0-5D4A-9C0C-EA4C-3A9D2BF9246B}"/>
              </a:ext>
            </a:extLst>
          </p:cNvPr>
          <p:cNvSpPr/>
          <p:nvPr/>
        </p:nvSpPr>
        <p:spPr>
          <a:xfrm>
            <a:off x="2743200" y="2286000"/>
            <a:ext cx="2895600" cy="355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C8FF791-4785-2917-E179-306D601ED61D}"/>
              </a:ext>
            </a:extLst>
          </p:cNvPr>
          <p:cNvSpPr txBox="1"/>
          <p:nvPr/>
        </p:nvSpPr>
        <p:spPr>
          <a:xfrm>
            <a:off x="2870200" y="2402202"/>
            <a:ext cx="26416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950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CN-TXN-0005220</a:t>
            </a:r>
            <a:endParaRPr lang="zh-CN" altLang="en-US" sz="950">
              <a:solidFill>
                <a:srgbClr val="1B263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0523E8D-44D6-9D20-BE9C-AB8E68BA73C7}"/>
              </a:ext>
            </a:extLst>
          </p:cNvPr>
          <p:cNvSpPr/>
          <p:nvPr/>
        </p:nvSpPr>
        <p:spPr>
          <a:xfrm>
            <a:off x="711200" y="2641600"/>
            <a:ext cx="2032000" cy="355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860BC1B-A895-1953-C2A3-700E18C9790F}"/>
              </a:ext>
            </a:extLst>
          </p:cNvPr>
          <p:cNvSpPr txBox="1"/>
          <p:nvPr/>
        </p:nvSpPr>
        <p:spPr>
          <a:xfrm>
            <a:off x="838200" y="2757802"/>
            <a:ext cx="17780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交易金额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0045272-08C9-B03C-3385-94C79DD984BB}"/>
              </a:ext>
            </a:extLst>
          </p:cNvPr>
          <p:cNvSpPr/>
          <p:nvPr/>
        </p:nvSpPr>
        <p:spPr>
          <a:xfrm>
            <a:off x="2743200" y="2641600"/>
            <a:ext cx="2895600" cy="355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6FEE3445-D479-CFC4-EDEE-34C6D30F0399}"/>
              </a:ext>
            </a:extLst>
          </p:cNvPr>
          <p:cNvSpPr txBox="1"/>
          <p:nvPr/>
        </p:nvSpPr>
        <p:spPr>
          <a:xfrm>
            <a:off x="2870200" y="2757802"/>
            <a:ext cx="26416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950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¥14,774.56</a:t>
            </a:r>
            <a:endParaRPr lang="zh-CN" altLang="en-US" sz="950">
              <a:solidFill>
                <a:srgbClr val="1B263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5D418AB-9BFE-6067-612C-32ECEB744C0F}"/>
              </a:ext>
            </a:extLst>
          </p:cNvPr>
          <p:cNvSpPr/>
          <p:nvPr/>
        </p:nvSpPr>
        <p:spPr>
          <a:xfrm>
            <a:off x="711200" y="2997200"/>
            <a:ext cx="2032000" cy="355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10EDB11-CC0B-2DCA-6B10-CC9A8150110A}"/>
              </a:ext>
            </a:extLst>
          </p:cNvPr>
          <p:cNvSpPr txBox="1"/>
          <p:nvPr/>
        </p:nvSpPr>
        <p:spPr>
          <a:xfrm>
            <a:off x="838200" y="3113402"/>
            <a:ext cx="17780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历史均值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425C4E4-8A0D-F246-C72A-59D6F379D540}"/>
              </a:ext>
            </a:extLst>
          </p:cNvPr>
          <p:cNvSpPr/>
          <p:nvPr/>
        </p:nvSpPr>
        <p:spPr>
          <a:xfrm>
            <a:off x="2743200" y="2997200"/>
            <a:ext cx="2895600" cy="355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40A9678-838A-2EF0-9599-CA56C0F1AD7B}"/>
              </a:ext>
            </a:extLst>
          </p:cNvPr>
          <p:cNvSpPr txBox="1"/>
          <p:nvPr/>
        </p:nvSpPr>
        <p:spPr>
          <a:xfrm>
            <a:off x="2870200" y="3113402"/>
            <a:ext cx="26416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950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¥25,215.21</a:t>
            </a:r>
            <a:endParaRPr lang="zh-CN" altLang="en-US" sz="950">
              <a:solidFill>
                <a:srgbClr val="1B263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396952A-2F16-30F9-9119-6273660D6CB8}"/>
              </a:ext>
            </a:extLst>
          </p:cNvPr>
          <p:cNvSpPr/>
          <p:nvPr/>
        </p:nvSpPr>
        <p:spPr>
          <a:xfrm>
            <a:off x="711200" y="3352800"/>
            <a:ext cx="2032000" cy="355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0DA21ECD-16C1-16B9-F3F6-7B6F39F92F7B}"/>
              </a:ext>
            </a:extLst>
          </p:cNvPr>
          <p:cNvSpPr txBox="1"/>
          <p:nvPr/>
        </p:nvSpPr>
        <p:spPr>
          <a:xfrm>
            <a:off x="838200" y="3469002"/>
            <a:ext cx="17780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审批延迟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4387911-6D8B-54DB-B901-38784A252229}"/>
              </a:ext>
            </a:extLst>
          </p:cNvPr>
          <p:cNvSpPr/>
          <p:nvPr/>
        </p:nvSpPr>
        <p:spPr>
          <a:xfrm>
            <a:off x="2743200" y="3352800"/>
            <a:ext cx="2895600" cy="355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3A0B769-0962-D85C-CF3B-1F89680DC0B0}"/>
              </a:ext>
            </a:extLst>
          </p:cNvPr>
          <p:cNvSpPr txBox="1"/>
          <p:nvPr/>
        </p:nvSpPr>
        <p:spPr>
          <a:xfrm>
            <a:off x="2870200" y="3469002"/>
            <a:ext cx="26416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9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338.55 min</a:t>
            </a:r>
            <a:endParaRPr lang="zh-CN" altLang="en-US" sz="950" b="1">
              <a:solidFill>
                <a:srgbClr val="E67E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81BCA30-7837-FEBE-640E-4064F5F1B4EF}"/>
              </a:ext>
            </a:extLst>
          </p:cNvPr>
          <p:cNvSpPr/>
          <p:nvPr/>
        </p:nvSpPr>
        <p:spPr>
          <a:xfrm>
            <a:off x="711200" y="3708400"/>
            <a:ext cx="2032000" cy="355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F5E832B-79D0-753A-E46E-06D56CBA47B9}"/>
              </a:ext>
            </a:extLst>
          </p:cNvPr>
          <p:cNvSpPr txBox="1"/>
          <p:nvPr/>
        </p:nvSpPr>
        <p:spPr>
          <a:xfrm>
            <a:off x="838200" y="3824602"/>
            <a:ext cx="17780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发票匹配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6782D74-27D1-A565-3063-49C48E0E70EF}"/>
              </a:ext>
            </a:extLst>
          </p:cNvPr>
          <p:cNvSpPr/>
          <p:nvPr/>
        </p:nvSpPr>
        <p:spPr>
          <a:xfrm>
            <a:off x="2743200" y="3708400"/>
            <a:ext cx="2895600" cy="355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2D2EAD94-CB39-E847-6AFB-9B01A3B08599}"/>
              </a:ext>
            </a:extLst>
          </p:cNvPr>
          <p:cNvSpPr txBox="1"/>
          <p:nvPr/>
        </p:nvSpPr>
        <p:spPr>
          <a:xfrm>
            <a:off x="2870200" y="3824602"/>
            <a:ext cx="26416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9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0.4411</a:t>
            </a:r>
            <a:endParaRPr lang="zh-CN" altLang="en-US" sz="950" b="1">
              <a:solidFill>
                <a:srgbClr val="E67E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BAB695E-CA5D-F1A6-7CEC-A0DE9603B0B9}"/>
              </a:ext>
            </a:extLst>
          </p:cNvPr>
          <p:cNvSpPr/>
          <p:nvPr/>
        </p:nvSpPr>
        <p:spPr>
          <a:xfrm>
            <a:off x="711200" y="4064000"/>
            <a:ext cx="2032000" cy="355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37AAE598-46E9-80EC-066A-6453FF17FA4B}"/>
              </a:ext>
            </a:extLst>
          </p:cNvPr>
          <p:cNvSpPr txBox="1"/>
          <p:nvPr/>
        </p:nvSpPr>
        <p:spPr>
          <a:xfrm>
            <a:off x="838200" y="4180202"/>
            <a:ext cx="17780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规则违反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5C00BA1-82B8-CCB6-9038-90270F2B12A0}"/>
              </a:ext>
            </a:extLst>
          </p:cNvPr>
          <p:cNvSpPr/>
          <p:nvPr/>
        </p:nvSpPr>
        <p:spPr>
          <a:xfrm>
            <a:off x="2743200" y="4064000"/>
            <a:ext cx="2895600" cy="355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56B4528-0924-985F-780D-FDD89B8072D6}"/>
              </a:ext>
            </a:extLst>
          </p:cNvPr>
          <p:cNvSpPr txBox="1"/>
          <p:nvPr/>
        </p:nvSpPr>
        <p:spPr>
          <a:xfrm>
            <a:off x="2870200" y="4180202"/>
            <a:ext cx="26416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9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 </a:t>
            </a:r>
            <a:r>
              <a:rPr lang="zh-CN" altLang="en-US" sz="9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5F85ABE-DB2E-B98E-F94D-833BEDD4B6AE}"/>
              </a:ext>
            </a:extLst>
          </p:cNvPr>
          <p:cNvSpPr/>
          <p:nvPr/>
        </p:nvSpPr>
        <p:spPr>
          <a:xfrm>
            <a:off x="711200" y="4419600"/>
            <a:ext cx="2032000" cy="355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289E455-07B9-4BEC-BD67-1177ADCB2444}"/>
              </a:ext>
            </a:extLst>
          </p:cNvPr>
          <p:cNvSpPr txBox="1"/>
          <p:nvPr/>
        </p:nvSpPr>
        <p:spPr>
          <a:xfrm>
            <a:off x="838200" y="4535802"/>
            <a:ext cx="17780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关系异常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72A21CE-FE5A-BF32-3EE4-7725E7F48D78}"/>
              </a:ext>
            </a:extLst>
          </p:cNvPr>
          <p:cNvSpPr/>
          <p:nvPr/>
        </p:nvSpPr>
        <p:spPr>
          <a:xfrm>
            <a:off x="2743200" y="4419600"/>
            <a:ext cx="2895600" cy="355600"/>
          </a:xfrm>
          <a:prstGeom prst="rect">
            <a:avLst/>
          </a:prstGeom>
          <a:solidFill>
            <a:srgbClr val="F8F9F9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EF6B485-B9D0-568F-7328-979CE85FC448}"/>
              </a:ext>
            </a:extLst>
          </p:cNvPr>
          <p:cNvSpPr txBox="1"/>
          <p:nvPr/>
        </p:nvSpPr>
        <p:spPr>
          <a:xfrm>
            <a:off x="2870200" y="4535802"/>
            <a:ext cx="26416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95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0.4931</a:t>
            </a:r>
            <a:endParaRPr lang="zh-CN" altLang="en-US" sz="950" b="1">
              <a:solidFill>
                <a:srgbClr val="E67E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962DC28B-756A-5D6B-B9C3-563D55A16A33}"/>
              </a:ext>
            </a:extLst>
          </p:cNvPr>
          <p:cNvSpPr/>
          <p:nvPr/>
        </p:nvSpPr>
        <p:spPr>
          <a:xfrm>
            <a:off x="711200" y="4775200"/>
            <a:ext cx="2032000" cy="355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DF1DA6DF-F2CD-03DC-991C-0764D8DE0775}"/>
              </a:ext>
            </a:extLst>
          </p:cNvPr>
          <p:cNvSpPr txBox="1"/>
          <p:nvPr/>
        </p:nvSpPr>
        <p:spPr>
          <a:xfrm>
            <a:off x="838200" y="4891402"/>
            <a:ext cx="17780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模型分数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A981A8A0-3286-022B-8F0D-6C30801778A7}"/>
              </a:ext>
            </a:extLst>
          </p:cNvPr>
          <p:cNvSpPr/>
          <p:nvPr/>
        </p:nvSpPr>
        <p:spPr>
          <a:xfrm>
            <a:off x="2743200" y="4775200"/>
            <a:ext cx="2895600" cy="355600"/>
          </a:xfrm>
          <a:prstGeom prst="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8E2A028-E005-40D2-206F-9DCB2FFD1DE6}"/>
              </a:ext>
            </a:extLst>
          </p:cNvPr>
          <p:cNvSpPr txBox="1"/>
          <p:nvPr/>
        </p:nvSpPr>
        <p:spPr>
          <a:xfrm>
            <a:off x="2870200" y="4891402"/>
            <a:ext cx="2641600" cy="146194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950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0.5099</a:t>
            </a:r>
            <a:r>
              <a:rPr lang="zh-CN" altLang="en-US" sz="950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（排名 </a:t>
            </a:r>
            <a:r>
              <a:rPr lang="en-US" altLang="zh-CN" sz="950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/ 7,000</a:t>
            </a:r>
            <a:r>
              <a:rPr lang="zh-CN" altLang="en-US" sz="950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7C94662D-61EA-289C-3B37-42D52B958CFA}"/>
              </a:ext>
            </a:extLst>
          </p:cNvPr>
          <p:cNvSpPr txBox="1"/>
          <p:nvPr/>
        </p:nvSpPr>
        <p:spPr>
          <a:xfrm>
            <a:off x="6096000" y="1879600"/>
            <a:ext cx="5588000" cy="184666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2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为什么模型把它排在第 </a:t>
            </a:r>
            <a:r>
              <a:rPr lang="en-US" altLang="zh-CN" sz="12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名</a:t>
            </a: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1033C451-4626-B22E-494A-DEB2384A8CC2}"/>
              </a:ext>
            </a:extLst>
          </p:cNvPr>
          <p:cNvSpPr/>
          <p:nvPr/>
        </p:nvSpPr>
        <p:spPr>
          <a:xfrm>
            <a:off x="6096000" y="2260600"/>
            <a:ext cx="2667000" cy="13462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E9FAFFB-FAB6-3701-DE9E-92CA8657C407}"/>
              </a:ext>
            </a:extLst>
          </p:cNvPr>
          <p:cNvSpPr/>
          <p:nvPr/>
        </p:nvSpPr>
        <p:spPr>
          <a:xfrm>
            <a:off x="6096000" y="2260600"/>
            <a:ext cx="2667000" cy="63500"/>
          </a:xfrm>
          <a:prstGeom prst="rect">
            <a:avLst/>
          </a:prstGeom>
          <a:solidFill>
            <a:srgbClr val="2E86C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ABE2586-47D5-3F8E-6250-DD0DBA4E6B73}"/>
              </a:ext>
            </a:extLst>
          </p:cNvPr>
          <p:cNvSpPr txBox="1"/>
          <p:nvPr/>
        </p:nvSpPr>
        <p:spPr>
          <a:xfrm>
            <a:off x="6273800" y="2413000"/>
            <a:ext cx="23114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2000" b="1">
                <a:solidFill>
                  <a:srgbClr val="2E86C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338.55</a:t>
            </a:r>
            <a:endParaRPr lang="zh-CN" altLang="en-US" sz="2000" b="1">
              <a:solidFill>
                <a:srgbClr val="2E86C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BBBF35EE-1C4B-58D8-8652-088F19AED9FD}"/>
              </a:ext>
            </a:extLst>
          </p:cNvPr>
          <p:cNvSpPr txBox="1"/>
          <p:nvPr/>
        </p:nvSpPr>
        <p:spPr>
          <a:xfrm>
            <a:off x="6273800" y="2819400"/>
            <a:ext cx="23114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审批延迟 </a:t>
            </a:r>
            <a:r>
              <a:rPr lang="en-US" altLang="zh-CN" sz="10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min</a:t>
            </a:r>
            <a:endParaRPr lang="zh-CN" altLang="en-US" sz="1000" b="1">
              <a:solidFill>
                <a:srgbClr val="1B2631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276A1253-E72F-2496-79BE-F57978C906E5}"/>
              </a:ext>
            </a:extLst>
          </p:cNvPr>
          <p:cNvSpPr txBox="1"/>
          <p:nvPr/>
        </p:nvSpPr>
        <p:spPr>
          <a:xfrm>
            <a:off x="6273800" y="3098800"/>
            <a:ext cx="2311400" cy="1277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zh-CN" altLang="en-US" sz="83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中位数 </a:t>
            </a:r>
            <a:r>
              <a:rPr lang="en-US" altLang="zh-CN" sz="83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59 min · 99.8 </a:t>
            </a:r>
            <a:r>
              <a:rPr lang="zh-CN" altLang="en-US" sz="83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分位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0BF03B28-BD5A-0CF0-B0EA-EB9CA3A8D8EA}"/>
              </a:ext>
            </a:extLst>
          </p:cNvPr>
          <p:cNvSpPr/>
          <p:nvPr/>
        </p:nvSpPr>
        <p:spPr>
          <a:xfrm>
            <a:off x="8890000" y="2260600"/>
            <a:ext cx="2667000" cy="13462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9DCE9F6-0F81-0C3D-3D19-490AE052B522}"/>
              </a:ext>
            </a:extLst>
          </p:cNvPr>
          <p:cNvSpPr/>
          <p:nvPr/>
        </p:nvSpPr>
        <p:spPr>
          <a:xfrm>
            <a:off x="8890000" y="2260600"/>
            <a:ext cx="2667000" cy="63500"/>
          </a:xfrm>
          <a:prstGeom prst="rect">
            <a:avLst/>
          </a:prstGeom>
          <a:solidFill>
            <a:srgbClr val="E67E2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D6B2898-3831-4E49-B490-1F53F0423D5A}"/>
              </a:ext>
            </a:extLst>
          </p:cNvPr>
          <p:cNvSpPr txBox="1"/>
          <p:nvPr/>
        </p:nvSpPr>
        <p:spPr>
          <a:xfrm>
            <a:off x="9067800" y="2413000"/>
            <a:ext cx="23114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2000" b="1">
                <a:solidFill>
                  <a:srgbClr val="E67E22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0.4411</a:t>
            </a:r>
            <a:endParaRPr lang="zh-CN" altLang="en-US" sz="2000" b="1">
              <a:solidFill>
                <a:srgbClr val="E67E22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461EF8BD-67CB-8A2A-F2FC-83B3F31A4B55}"/>
              </a:ext>
            </a:extLst>
          </p:cNvPr>
          <p:cNvSpPr txBox="1"/>
          <p:nvPr/>
        </p:nvSpPr>
        <p:spPr>
          <a:xfrm>
            <a:off x="9067800" y="2819400"/>
            <a:ext cx="23114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发票匹配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A2C459D3-C837-0F36-C6F6-D716DCADF313}"/>
              </a:ext>
            </a:extLst>
          </p:cNvPr>
          <p:cNvSpPr txBox="1"/>
          <p:nvPr/>
        </p:nvSpPr>
        <p:spPr>
          <a:xfrm>
            <a:off x="9067800" y="3098800"/>
            <a:ext cx="2311400" cy="1277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zh-CN" altLang="en-US" sz="83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中位数 </a:t>
            </a:r>
            <a:r>
              <a:rPr lang="en-US" altLang="zh-CN" sz="83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0.915 · </a:t>
            </a:r>
            <a:r>
              <a:rPr lang="zh-CN" altLang="en-US" sz="83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最低 </a:t>
            </a:r>
            <a:r>
              <a:rPr lang="en-US" altLang="zh-CN" sz="83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1.1%</a:t>
            </a:r>
            <a:endParaRPr lang="zh-CN" altLang="en-US" sz="83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989B771A-9C0D-2C8B-7527-A8571EFCD233}"/>
              </a:ext>
            </a:extLst>
          </p:cNvPr>
          <p:cNvSpPr/>
          <p:nvPr/>
        </p:nvSpPr>
        <p:spPr>
          <a:xfrm>
            <a:off x="6096000" y="3759200"/>
            <a:ext cx="2667000" cy="13462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7B2F006E-37CB-683B-729F-F7590A9129D3}"/>
              </a:ext>
            </a:extLst>
          </p:cNvPr>
          <p:cNvSpPr/>
          <p:nvPr/>
        </p:nvSpPr>
        <p:spPr>
          <a:xfrm>
            <a:off x="6096000" y="3759200"/>
            <a:ext cx="2667000" cy="63500"/>
          </a:xfrm>
          <a:prstGeom prst="rect">
            <a:avLst/>
          </a:prstGeom>
          <a:solidFill>
            <a:srgbClr val="27AE6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3A128E0B-24D8-1E72-3A83-A4E850A5E011}"/>
              </a:ext>
            </a:extLst>
          </p:cNvPr>
          <p:cNvSpPr txBox="1"/>
          <p:nvPr/>
        </p:nvSpPr>
        <p:spPr>
          <a:xfrm>
            <a:off x="6273800" y="3911600"/>
            <a:ext cx="23114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2000" b="1">
                <a:solidFill>
                  <a:srgbClr val="27AE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 </a:t>
            </a:r>
            <a:r>
              <a:rPr lang="zh-CN" altLang="en-US" sz="2000" b="1">
                <a:solidFill>
                  <a:srgbClr val="27AE6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3CC37CEB-3E29-54A9-3FE7-6FBA62F0C147}"/>
              </a:ext>
            </a:extLst>
          </p:cNvPr>
          <p:cNvSpPr txBox="1"/>
          <p:nvPr/>
        </p:nvSpPr>
        <p:spPr>
          <a:xfrm>
            <a:off x="6273800" y="4318000"/>
            <a:ext cx="23114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规则违反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98B30180-9BFB-2D66-4529-635B7F8D852C}"/>
              </a:ext>
            </a:extLst>
          </p:cNvPr>
          <p:cNvSpPr txBox="1"/>
          <p:nvPr/>
        </p:nvSpPr>
        <p:spPr>
          <a:xfrm>
            <a:off x="6273800" y="4597400"/>
            <a:ext cx="2311400" cy="1277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zh-CN" altLang="en-US" sz="83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中位数 </a:t>
            </a:r>
            <a:r>
              <a:rPr lang="en-US" altLang="zh-CN" sz="83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83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条</a:t>
            </a: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4B1B769A-CF5E-8A9E-B755-FCC37ACE2EA9}"/>
              </a:ext>
            </a:extLst>
          </p:cNvPr>
          <p:cNvSpPr/>
          <p:nvPr/>
        </p:nvSpPr>
        <p:spPr>
          <a:xfrm>
            <a:off x="8890000" y="3759200"/>
            <a:ext cx="2667000" cy="13462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D5D8D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8C1E5E1-1702-74A8-EE2A-D0B4BA063B15}"/>
              </a:ext>
            </a:extLst>
          </p:cNvPr>
          <p:cNvSpPr/>
          <p:nvPr/>
        </p:nvSpPr>
        <p:spPr>
          <a:xfrm>
            <a:off x="8890000" y="3759200"/>
            <a:ext cx="2667000" cy="63500"/>
          </a:xfrm>
          <a:prstGeom prst="rect">
            <a:avLst/>
          </a:prstGeom>
          <a:solidFill>
            <a:srgbClr val="1F4E7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96864AFA-036D-1A06-5095-CC5BF701019B}"/>
              </a:ext>
            </a:extLst>
          </p:cNvPr>
          <p:cNvSpPr txBox="1"/>
          <p:nvPr/>
        </p:nvSpPr>
        <p:spPr>
          <a:xfrm>
            <a:off x="9067800" y="3911600"/>
            <a:ext cx="23114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en-US" altLang="zh-CN" sz="2000" b="1">
                <a:solidFill>
                  <a:srgbClr val="1F4E79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0.4931</a:t>
            </a:r>
            <a:endParaRPr lang="zh-CN" altLang="en-US" sz="2000" b="1">
              <a:solidFill>
                <a:srgbClr val="1F4E79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F2C6659A-A151-FE80-78AB-0C199F3986F9}"/>
              </a:ext>
            </a:extLst>
          </p:cNvPr>
          <p:cNvSpPr txBox="1"/>
          <p:nvPr/>
        </p:nvSpPr>
        <p:spPr>
          <a:xfrm>
            <a:off x="9067800" y="4318000"/>
            <a:ext cx="2311400" cy="1538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00" b="1">
                <a:solidFill>
                  <a:srgbClr val="1B263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关系异常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8B7B287-C71F-5AF0-07EF-C0AB24B08018}"/>
              </a:ext>
            </a:extLst>
          </p:cNvPr>
          <p:cNvSpPr txBox="1"/>
          <p:nvPr/>
        </p:nvSpPr>
        <p:spPr>
          <a:xfrm>
            <a:off x="9067800" y="4597400"/>
            <a:ext cx="2311400" cy="12772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zh-CN" altLang="en-US" sz="83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中位数 </a:t>
            </a:r>
            <a:r>
              <a:rPr lang="en-US" altLang="zh-CN" sz="83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0.269 · 99.6 </a:t>
            </a:r>
            <a:r>
              <a:rPr lang="zh-CN" altLang="en-US" sz="83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分位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D8FEA44B-F636-3472-DF66-39B532258934}"/>
              </a:ext>
            </a:extLst>
          </p:cNvPr>
          <p:cNvSpPr txBox="1"/>
          <p:nvPr/>
        </p:nvSpPr>
        <p:spPr>
          <a:xfrm>
            <a:off x="711200" y="5689600"/>
            <a:ext cx="10795000" cy="15081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金额只有 </a:t>
            </a:r>
            <a:r>
              <a:rPr lang="en-US" altLang="zh-CN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1.48 </a:t>
            </a:r>
            <a:r>
              <a:rPr lang="zh-CN" altLang="en-US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万，低于历史均值 </a:t>
            </a:r>
            <a:r>
              <a:rPr lang="en-US" altLang="zh-CN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2.52 </a:t>
            </a:r>
            <a:r>
              <a:rPr lang="zh-CN" altLang="en-US" sz="980">
                <a:solidFill>
                  <a:srgbClr val="34495E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万；模型不是单看金额，而是看审批、发票、规则和关系网络的组合。</a:t>
            </a:r>
          </a:p>
        </p:txBody>
      </p:sp>
      <p:sp>
        <p:nvSpPr>
          <p:cNvPr id="61" name="矩形: 圆角 60">
            <a:extLst>
              <a:ext uri="{FF2B5EF4-FFF2-40B4-BE49-F238E27FC236}">
                <a16:creationId xmlns:a16="http://schemas.microsoft.com/office/drawing/2014/main" id="{9A486559-9F30-E212-2CB1-D90857046681}"/>
              </a:ext>
            </a:extLst>
          </p:cNvPr>
          <p:cNvSpPr/>
          <p:nvPr/>
        </p:nvSpPr>
        <p:spPr>
          <a:xfrm>
            <a:off x="508000" y="6019800"/>
            <a:ext cx="11176000" cy="381000"/>
          </a:xfrm>
          <a:prstGeom prst="roundRect">
            <a:avLst/>
          </a:prstGeom>
          <a:solidFill>
            <a:srgbClr val="FDEBD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B9D77A66-003D-AA05-B8CB-7F85D8514991}"/>
              </a:ext>
            </a:extLst>
          </p:cNvPr>
          <p:cNvSpPr txBox="1"/>
          <p:nvPr/>
        </p:nvSpPr>
        <p:spPr>
          <a:xfrm>
            <a:off x="736600" y="6096000"/>
            <a:ext cx="10718800" cy="16158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1050" b="1">
                <a:solidFill>
                  <a:srgbClr val="9351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人工核查动作：调发票号、合同、审批链，确认是否重复报销。案例是线索，不是定罪。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D87A967A-A940-2FA2-52ED-68666260F7FF}"/>
              </a:ext>
            </a:extLst>
          </p:cNvPr>
          <p:cNvSpPr/>
          <p:nvPr/>
        </p:nvSpPr>
        <p:spPr>
          <a:xfrm>
            <a:off x="508000" y="6578600"/>
            <a:ext cx="11176000" cy="12700"/>
          </a:xfrm>
          <a:prstGeom prst="rect">
            <a:avLst/>
          </a:prstGeom>
          <a:solidFill>
            <a:srgbClr val="D5D8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6F9E097-AA1E-3F76-EDD7-0BA085009D6B}"/>
              </a:ext>
            </a:extLst>
          </p:cNvPr>
          <p:cNvSpPr txBox="1"/>
          <p:nvPr/>
        </p:nvSpPr>
        <p:spPr>
          <a:xfrm>
            <a:off x="508000" y="6642100"/>
            <a:ext cx="7874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>
              <a:lnSpc>
                <a:spcPct val="105000"/>
              </a:lnSpc>
            </a:pP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智慧审计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机器学习 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| 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期中实践 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| 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附录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备用页（不计入 </a:t>
            </a: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10 </a:t>
            </a:r>
            <a:r>
              <a:rPr lang="zh-CN" altLang="en-US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页主线）</a:t>
            </a: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A8E5A0CF-46F4-65DE-139C-DA2687E64D82}"/>
              </a:ext>
            </a:extLst>
          </p:cNvPr>
          <p:cNvSpPr txBox="1"/>
          <p:nvPr/>
        </p:nvSpPr>
        <p:spPr>
          <a:xfrm>
            <a:off x="10668000" y="6642100"/>
            <a:ext cx="1016000" cy="1308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lang="en-US" altLang="zh-CN" sz="850">
                <a:solidFill>
                  <a:srgbClr val="7F8C8D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A-3 / 3</a:t>
            </a:r>
            <a:endParaRPr lang="zh-CN" altLang="en-US" sz="850">
              <a:solidFill>
                <a:srgbClr val="7F8C8D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925723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1779</Words>
  <Application>Microsoft Office PowerPoint</Application>
  <PresentationFormat>自定义</PresentationFormat>
  <Paragraphs>212</Paragraphs>
  <Slides>13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8" baseType="lpstr">
      <vt:lpstr>等线</vt:lpstr>
      <vt:lpstr>等线 Light</vt:lpstr>
      <vt:lpstr>Microsoft YaHei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Tao LI</dc:creator>
  <cp:lastModifiedBy>Tao LI</cp:lastModifiedBy>
  <cp:revision>1</cp:revision>
  <dcterms:created xsi:type="dcterms:W3CDTF">2026-10-18T16:33:38Z</dcterms:created>
  <dcterms:modified xsi:type="dcterms:W3CDTF">2026-10-18T16:33:38Z</dcterms:modified>
</cp:coreProperties>
</file>